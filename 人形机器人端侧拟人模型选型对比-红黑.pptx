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463040"/>
            <a:ext cx="5486400" cy="54864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B91C1C"/>
              </a:gs>
              <a:gs pos="100000">
                <a:srgbClr val="0E0E1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18320" y="2926080"/>
            <a:ext cx="4114800" cy="41148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FF7A45"/>
              </a:gs>
              <a:gs pos="100000">
                <a:srgbClr val="0E0E1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F4D4D"/>
                </a:solidFill>
                <a:latin typeface="微软雅黑"/>
                <a:ea typeface="微软雅黑"/>
              </a:rPr>
              <a:t>HUMANOID ROBOT · ON-DEVICE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9601200" cy="18288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5F5F5"/>
                </a:solidFill>
                <a:latin typeface="微软雅黑"/>
                <a:ea typeface="微软雅黑"/>
              </a:rPr>
              <a:t>人形机器人端侧拟人模型选型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4D4D"/>
                </a:solidFill>
                <a:latin typeface="微软雅黑"/>
                <a:ea typeface="微软雅黑"/>
              </a:rPr>
              <a:t>拟人对话优先 · 竞品参考 + RDK S100 落地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960120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AD2D3"/>
                </a:solidFill>
                <a:latin typeface="微软雅黑"/>
                <a:ea typeface="微软雅黑"/>
              </a:rPr>
              <a:t>区分「动作大模型 vs 拟人对话模型」，对照宇树/智元/特斯拉/Figure 真实方案，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DAD2D3"/>
                </a:solidFill>
                <a:latin typeface="微软雅黑"/>
                <a:ea typeface="微软雅黑"/>
              </a:rPr>
              <a:t>在地瓜 RDK S100（80 TOPS / 12GB）上选出最优落地路径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9C8E90"/>
                </a:solidFill>
                <a:latin typeface="微软雅黑"/>
                <a:ea typeface="微软雅黑"/>
              </a:rPr>
              <a:t>2026-06　|　性能为参考估算，建议实机实测后回填；竞品信息据公开资料整理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KEY INSIGHT · 别选错对象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关键认知：机器人有「两个大脑」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40680" cy="4206240"/>
          </a:xfrm>
          <a:prstGeom prst="roundRect">
            <a:avLst>
              <a:gd name="adj" fmla="val 4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10972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185"/>
              </a:gs>
              <a:gs pos="100000">
                <a:srgbClr val="28"/>
              </a:gs>
            </a:gsLst>
            <a:lin ang="2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484632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B91C1C"/>
                </a:solidFill>
                <a:latin typeface="微软雅黑"/>
                <a:ea typeface="微软雅黑"/>
              </a:rPr>
              <a:t>🦾 具身操作大模型 (VLA)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8463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DAD2D3"/>
                </a:solidFill>
                <a:latin typeface="微软雅黑"/>
                <a:ea typeface="微软雅黑"/>
              </a:rPr>
              <a:t>管「怎么动手脚」——抓取/行走/装配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4846320" cy="23774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代表：宇树 UnifoLM、智元 GO-1(ViLLA)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特斯拉端到端、Figure Helix、π0/RT-2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算力重，多跑在 GPU/云或独立运控单元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00200"/>
            <a:ext cx="5440680" cy="4206240"/>
          </a:xfrm>
          <a:prstGeom prst="roundRect">
            <a:avLst>
              <a:gd name="adj" fmla="val 4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600200"/>
            <a:ext cx="5440680" cy="10972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122"/>
              </a:gs>
            </a:gsLst>
            <a:lin ang="6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874519"/>
            <a:ext cx="484632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7A45"/>
                </a:solidFill>
                <a:latin typeface="微软雅黑"/>
                <a:ea typeface="微软雅黑"/>
              </a:rPr>
              <a:t>🗣 拟人对话大模型 (你要选的)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14600"/>
            <a:ext cx="48463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DAD2D3"/>
                </a:solidFill>
                <a:latin typeface="微软雅黑"/>
                <a:ea typeface="微软雅黑"/>
              </a:rPr>
              <a:t>管「怎么说话、像不像人」——对话/共情/人设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3154680"/>
            <a:ext cx="4846320" cy="23774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代表：Qwen / 豆包 / GPT / Grok 等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厂商很少把它当卖点公开具体型号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可端侧小模型，也常端云协同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064240" cy="457200"/>
          </a:xfrm>
          <a:prstGeom prst="roundRect">
            <a:avLst>
              <a:gd name="adj" fmla="val 30000"/>
            </a:avLst>
          </a:prstGeom>
          <a:ln w="12700">
            <a:solidFill>
              <a:srgbClr val="FF7A45"/>
            </a:solidFill>
          </a:ln>
          <a:effectLst/>
          <a:gradFill>
            <a:gsLst>
              <a:gs pos="0">
                <a:srgbClr val="51"/>
              </a:gs>
              <a:gs pos="100000">
                <a:srgbClr val="22"/>
              </a:gs>
            </a:gsLst>
            <a:lin ang="26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943600"/>
            <a:ext cx="10698480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4D4D"/>
                </a:solidFill>
                <a:latin typeface="微软雅黑"/>
                <a:ea typeface="微软雅黑"/>
              </a:rPr>
              <a:t>⚠ UnifoLM / GO-1 是动作模型，不要拿它们当「对话模型」对标——你的选型只看右边这一栏。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COMPETITOR MAP · 同行用什么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竞品方案对照（对话/拟人层）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3968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23390"/>
                <a:gridCol w="1491317"/>
                <a:gridCol w="2050561"/>
                <a:gridCol w="3541878"/>
                <a:gridCol w="1584524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厂商 / 产品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形态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动作模型(VLA)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对话/拟人模型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端侧/云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特斯拉 Optimus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自研端到端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Grok (xAI)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云·大模型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Figure 02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Helix(自研,原OpenAI)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原OpenAI→自研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云/边·大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宇树 Unitree G1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UnifoLM(统一)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多模态语音+图像大模型(未公开型号)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Jetson Orin端侧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智元 远征 A2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商用人形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GO-1 (ViLLA)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语音对话/导览交互(未公开型号)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端+云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跃然 BubblePal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对话挂件(年销20万)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通用大模型(豆包/MiniMax/智谱)+垂类小模型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端云协同 ✓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珞博 Fuzozo / 萌友 Ropet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AI陪伴(月销2万+)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云大模型+情感垂类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端云协同 ✓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C8E90"/>
                </a:solidFill>
                <a:latin typeface="微软雅黑"/>
                <a:ea typeface="微软雅黑"/>
              </a:rPr>
              <a:t>规律：顶级人形把「对话脑」交给大模型/云(Grok/OpenAI)；真正大规模落地拟人对话的陪伴硬件，走「端云协同+端侧小模型」。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THE PATTERN · 主流打法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行业真相：拟人对话 ≈ 端云协同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5F5F5"/>
                </a:solidFill>
                <a:latin typeface="微软雅黑"/>
                <a:ea typeface="微软雅黑"/>
              </a:rPr>
              <a:t>以年销 20 万台的 BubblePal 为例，两层结构：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577840" cy="1417320"/>
          </a:xfrm>
          <a:prstGeom prst="roundRect">
            <a:avLst>
              <a:gd name="adj" fmla="val 6000"/>
            </a:avLst>
          </a:prstGeom>
          <a:ln w="15875">
            <a:solidFill>
              <a:srgbClr val="FF4D4D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5120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4D4D"/>
                </a:solidFill>
                <a:latin typeface="微软雅黑"/>
                <a:ea typeface="微软雅黑"/>
              </a:rPr>
              <a:t>端侧 · 小模型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60904"/>
            <a:ext cx="51206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5F5F5"/>
                </a:solidFill>
                <a:latin typeface="微软雅黑"/>
                <a:ea typeface="微软雅黑"/>
              </a:rPr>
              <a:t>唤醒、意图、快闲聊、断网兜底、隐私敏感对话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81528"/>
            <a:ext cx="512064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C8E90"/>
                </a:solidFill>
                <a:latin typeface="微软雅黑"/>
                <a:ea typeface="微软雅黑"/>
              </a:rPr>
              <a:t>低延迟 / 省算力 / 离线可用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5577840" cy="1417320"/>
          </a:xfrm>
          <a:prstGeom prst="roundRect">
            <a:avLst>
              <a:gd name="adj" fmla="val 6000"/>
            </a:avLst>
          </a:prstGeom>
          <a:ln w="15875">
            <a:solidFill>
              <a:srgbClr val="B91C1C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1"/>
            <a:ext cx="5120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微软雅黑"/>
                <a:ea typeface="微软雅黑"/>
              </a:rPr>
              <a:t>云端 · 大模型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52543"/>
            <a:ext cx="51206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5F5F5"/>
                </a:solidFill>
                <a:latin typeface="微软雅黑"/>
                <a:ea typeface="微软雅黑"/>
              </a:rPr>
              <a:t>复杂问答、深度共情、长程人设、知识更新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73167"/>
            <a:ext cx="512064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C8E90"/>
                </a:solidFill>
                <a:latin typeface="微软雅黑"/>
                <a:ea typeface="微软雅黑"/>
              </a:rPr>
              <a:t>高质量 / 不占端侧算力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566928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DAD2D3"/>
                </a:solidFill>
                <a:latin typeface="微软雅黑"/>
                <a:ea typeface="微软雅黑"/>
              </a:rPr>
              <a:t>⇅ 路由器按「难度/时延/是否联网」动态分流，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DAD2D3"/>
                </a:solidFill>
                <a:latin typeface="微软雅黑"/>
                <a:ea typeface="微软雅黑"/>
              </a:rPr>
              <a:t>端侧先出声(流式TTS)，云端结果到了再续——体感最像人。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554480"/>
            <a:ext cx="5212080" cy="4480560"/>
          </a:xfrm>
          <a:prstGeom prst="roundRect">
            <a:avLst>
              <a:gd name="adj" fmla="val 4000"/>
            </a:avLst>
          </a:prstGeom>
          <a:ln w="15875">
            <a:solidFill>
              <a:srgbClr val="FF7A45"/>
            </a:solidFill>
          </a:ln>
          <a:effectLst/>
          <a:gradFill>
            <a:gsLst>
              <a:gs pos="0">
                <a:srgbClr val="251A1D"/>
              </a:gs>
              <a:gs pos="100000">
                <a:srgbClr val="1C1416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828800"/>
            <a:ext cx="46634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7A45"/>
                </a:solidFill>
                <a:latin typeface="微软雅黑"/>
                <a:ea typeface="微软雅黑"/>
              </a:rPr>
              <a:t>💡 对你的意义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468880"/>
            <a:ext cx="4663440" cy="3291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纯端侧 1.7B 单挑，拟人质量难追平竞品的「云端大模型」体验；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对标竞品 = 端侧 Qwen 小模型 + 云端大模型兜底；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RDK S100 算力够，端侧可上 Qwen3-1.7B→4B 提质；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5F5F5"/>
                </a:solidFill>
                <a:latin typeface="微软雅黑"/>
                <a:ea typeface="微软雅黑"/>
              </a:rPr>
              <a:t>• 断网/隐私/低延迟场景，端侧小模型是刚需，不可省。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STRAIGHT ANSWER · 诚实回答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「1.7B 同行谁用过？」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914400"/>
          </a:xfrm>
          <a:prstGeom prst="roundRect">
            <a:avLst>
              <a:gd name="adj" fmla="val 4000"/>
            </a:avLst>
          </a:prstGeom>
          <a:ln w="15875">
            <a:solidFill>
              <a:srgbClr val="FBBF24"/>
            </a:solidFill>
          </a:ln>
          <a:effectLst/>
          <a:gradFill>
            <a:gsLst>
              <a:gs pos="0">
                <a:srgbClr val="51"/>
              </a:gs>
              <a:gs pos="100000">
                <a:srgbClr val="36"/>
              </a:gs>
            </a:gsLst>
            <a:lin ang="2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BBF24"/>
                </a:solidFill>
                <a:latin typeface="微软雅黑"/>
                <a:ea typeface="微软雅黑"/>
              </a:rPr>
              <a:t>没有人形机器人厂商公开说过「端侧跑 Qwen-1.7B 做对话」——端侧精确参数量行业基本不披露。所以我不编。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25496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4D4D"/>
                </a:solidFill>
                <a:latin typeface="微软雅黑"/>
                <a:ea typeface="微软雅黑"/>
              </a:rPr>
              <a:t>✅ 但选 Qwen 家族 = 走在行业主线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5F5F5"/>
                </a:solidFill>
                <a:latin typeface="微软雅黑"/>
                <a:ea typeface="微软雅黑"/>
              </a:rPr>
              <a:t>Qwen 是国内具身/智能硬件事实基座：智元、星海图、连阿里自己下场做具身都用 Qwen；选 Qwen 与全行业同源。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58768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86784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4D4D"/>
                </a:solidFill>
                <a:latin typeface="微软雅黑"/>
                <a:ea typeface="微软雅黑"/>
              </a:rPr>
              <a:t>✅ 1.5~3B 端侧小模型已被陪伴硬件验证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07408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5F5F5"/>
                </a:solidFill>
                <a:latin typeface="微软雅黑"/>
                <a:ea typeface="微软雅黑"/>
              </a:rPr>
              <a:t>BubblePal/Fuzozo/Ropet 等量产陪伴硬件，端侧就是这一档小模型做意图/快闲聊，可靠性已被市场验证。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0056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48072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4D4D"/>
                </a:solidFill>
                <a:latin typeface="微软雅黑"/>
                <a:ea typeface="微软雅黑"/>
              </a:rPr>
              <a:t>⚠ 1.7B 是「RDK S100 纯端侧的合理起点」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568696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5F5F5"/>
                </a:solidFill>
                <a:latin typeface="微软雅黑"/>
                <a:ea typeface="微软雅黑"/>
              </a:rPr>
              <a:t>不是别人验证过的爆款配置，而是算力约束下的理性选择；要更高拟人质量就配云端或上 4B。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YOUR PLATFORM · 你的平台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地瓜 RDK S100（80 TOPS / 12GB）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9C8E90"/>
                </a:solidFill>
                <a:latin typeface="微软雅黑"/>
                <a:ea typeface="微软雅黑"/>
              </a:rPr>
              <a:t>BPU 算力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4D4D"/>
                </a:solidFill>
                <a:latin typeface="微软雅黑"/>
                <a:ea typeface="微软雅黑"/>
              </a:rPr>
              <a:t>80 TOPS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DAD2D3"/>
                </a:solidFill>
                <a:latin typeface="微软雅黑"/>
                <a:ea typeface="微软雅黑"/>
              </a:rPr>
              <a:t>Nash·Transformer优化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9C8E90"/>
                </a:solidFill>
                <a:latin typeface="微软雅黑"/>
                <a:ea typeface="微软雅黑"/>
              </a:rPr>
              <a:t>CPU 大脑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4D4D"/>
                </a:solidFill>
                <a:latin typeface="微软雅黑"/>
                <a:ea typeface="微软雅黑"/>
              </a:rPr>
              <a:t>6×A78AE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DAD2D3"/>
                </a:solidFill>
                <a:latin typeface="微软雅黑"/>
                <a:ea typeface="微软雅黑"/>
              </a:rPr>
              <a:t>100K DMIPS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9C8E90"/>
                </a:solidFill>
                <a:latin typeface="微软雅黑"/>
                <a:ea typeface="微软雅黑"/>
              </a:rPr>
              <a:t>MCU 小脑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4D4D"/>
                </a:solidFill>
                <a:latin typeface="微软雅黑"/>
                <a:ea typeface="微软雅黑"/>
              </a:rPr>
              <a:t>4×R52+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DAD2D3"/>
                </a:solidFill>
                <a:latin typeface="微软雅黑"/>
                <a:ea typeface="微软雅黑"/>
              </a:rPr>
              <a:t>关节实时运控(独立)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9C8E90"/>
                </a:solidFill>
                <a:latin typeface="微软雅黑"/>
                <a:ea typeface="微软雅黑"/>
              </a:rPr>
              <a:t>运行内存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4D4D"/>
                </a:solidFill>
                <a:latin typeface="微软雅黑"/>
                <a:ea typeface="微软雅黑"/>
              </a:rPr>
              <a:t>12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DAD2D3"/>
                </a:solidFill>
                <a:latin typeface="微软雅黑"/>
                <a:ea typeface="微软雅黑"/>
              </a:rPr>
              <a:t>可载 7B-INT4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9C8E90"/>
                </a:solidFill>
                <a:latin typeface="微软雅黑"/>
                <a:ea typeface="微软雅黑"/>
              </a:rPr>
              <a:t>参考价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4D4D"/>
                </a:solidFill>
                <a:latin typeface="微软雅黑"/>
                <a:ea typeface="微软雅黑"/>
              </a:rPr>
              <a:t>¥2499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DAD2D3"/>
                </a:solidFill>
                <a:latin typeface="微软雅黑"/>
                <a:ea typeface="微软雅黑"/>
              </a:rPr>
              <a:t>S100P:128T/24GB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9C8E90"/>
                </a:solidFill>
                <a:latin typeface="微软雅黑"/>
                <a:ea typeface="微软雅黑"/>
              </a:rPr>
              <a:t>官方适配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4D4D"/>
                </a:solidFill>
                <a:latin typeface="微软雅黑"/>
                <a:ea typeface="微软雅黑"/>
              </a:rPr>
              <a:t>Qwen3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DAD2D3"/>
                </a:solidFill>
                <a:latin typeface="微软雅黑"/>
                <a:ea typeface="微软雅黑"/>
              </a:rPr>
              <a:t>ModelZoo 已提供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4000"/>
            </a:avLst>
          </a:prstGeom>
          <a:ln w="12700">
            <a:solidFill>
              <a:srgbClr val="FF7A45"/>
            </a:solidFill>
          </a:ln>
          <a:effectLst/>
          <a:gradFill>
            <a:gsLst>
              <a:gs pos="0">
                <a:srgbClr val="51"/>
              </a:gs>
              <a:gs pos="100000">
                <a:srgbClr val="22"/>
              </a:gs>
            </a:gsLst>
            <a:lin ang="26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32120"/>
            <a:ext cx="10607040" cy="8229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5F5F5"/>
                </a:solidFill>
                <a:latin typeface="微软雅黑"/>
                <a:ea typeface="微软雅黑"/>
              </a:rPr>
              <a:t>⚠ BPU 非 GPU：模型必须经地瓜工具链编译+INT8/INT4量化，优先选官方 ModelZoo 已适配的 Qwen3；运控由独立 MCU 承担，BPU 可专注大模型。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CANDIDATES · 拟人维度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端侧候选小模型（拟人能力 + 适配性）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67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81622"/>
                <a:gridCol w="891295"/>
                <a:gridCol w="1089360"/>
                <a:gridCol w="1089360"/>
                <a:gridCol w="1485491"/>
                <a:gridCol w="990327"/>
                <a:gridCol w="1188393"/>
                <a:gridCol w="247581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显存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中文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人设一致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共情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多轮记忆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RDK S100适配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0.6B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~0.5GB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✓ 官方·仅兜底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1.7B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★★★(可LoRA)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✓ 官方·首选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3B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~2.1GB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✓ 易适配·更稳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~2.7GB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✓ 官方·提质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1.9B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△ 需适配·拟人最强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MiniCPM3-4B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~2.6GB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△ 需适配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Qwen2.5-7B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7B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~4.3GB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✓ 偏重·质量顶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C8E90"/>
                </a:solidFill>
                <a:latin typeface="微软雅黑"/>
                <a:ea typeface="微软雅黑"/>
              </a:rPr>
              <a:t>拟人维度=人设一致/共情/多轮记忆；适配：✓ 官方ModelZoo已有(直接可跑) / △ 需自行工具链转换(有成本与风险)。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SCORING · 拟人优先+适配性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综合评分与排名（满分10）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2478129" cy="4242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7417"/>
                <a:gridCol w="1109167"/>
                <a:gridCol w="1109167"/>
                <a:gridCol w="1109167"/>
                <a:gridCol w="1109167"/>
                <a:gridCol w="1109167"/>
                <a:gridCol w="3438418"/>
                <a:gridCol w="1386459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拟人30%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适配25%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速度20%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中文15%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资源10%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加权总分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结论</a:t>
                      </a:r>
                    </a:p>
                  </a:txBody>
                  <a:tcPr marL="45720" marR="45720" marT="18288" marB="18288" anchor="ctr">
                    <a:solidFill>
                      <a:srgbClr val="2A141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7.0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8.50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🥇 最佳平衡(官方+LoRA人设)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8.05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🥈 官方适配·拟人更强(偏重)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🥉 易适配·拟人稳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Qwen2.5-1.5B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8.00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低功耗并列·偏快</a:t>
                      </a:r>
                    </a:p>
                  </a:txBody>
                  <a:tcPr marL="45720" marR="45720" marT="9144" marB="9144" anchor="ctr">
                    <a:solidFill>
                      <a:srgbClr val="241A1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4.0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7.90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唤醒/意图兜底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9.5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7.75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4D4D"/>
                          </a:solidFill>
                          <a:latin typeface="微软雅黑"/>
                          <a:ea typeface="微软雅黑"/>
                        </a:rPr>
                        <a:t>🏅 拟人最强·但适配成本拉低</a:t>
                      </a:r>
                    </a:p>
                  </a:txBody>
                  <a:tcPr marL="45720" marR="45720" marT="9144" marB="9144" anchor="ctr">
                    <a:solidFill>
                      <a:srgbClr val="3A1A1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MiniCPM3-4B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6.95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DAD2D3"/>
                          </a:solidFill>
                          <a:latin typeface="微软雅黑"/>
                          <a:ea typeface="微软雅黑"/>
                        </a:rPr>
                        <a:t>拟人不错·需自适配</a:t>
                      </a:r>
                    </a:p>
                  </a:txBody>
                  <a:tcPr marL="45720" marR="45720" marT="9144" marB="9144" anchor="ctr">
                    <a:solidFill>
                      <a:srgbClr val="1C141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9C8E90"/>
                </a:solidFill>
                <a:latin typeface="微软雅黑"/>
                <a:ea typeface="微软雅黑"/>
              </a:rPr>
              <a:t>权重：拟人30% &gt; 适配25% &gt; 速度20% &gt; 中文15% &gt; 资源10%。关键：适配性把官方 Qwen 顶到前列；Index 拟人最强，却因「需自行适配」掉到第6——这就是为什么不直接选拟人最强的。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RECOMMENDATION · 推荐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落地方案：拟人优先 + 适配可落地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FF4D4D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端侧·主对话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0200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5F5F5"/>
                </a:solidFill>
                <a:latin typeface="微软雅黑"/>
                <a:ea typeface="微软雅黑"/>
              </a:rPr>
              <a:t>Qwen3-1.7B + LoRA人设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DAD2D3"/>
                </a:solidFill>
                <a:latin typeface="微软雅黑"/>
                <a:ea typeface="微软雅黑"/>
              </a:rPr>
              <a:t>官方已适配可直接跑，用LoRA把人设/口吻/记忆拉满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96895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B91C1C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596895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185"/>
              </a:gs>
              <a:gs pos="100000">
                <a:srgbClr val="28"/>
              </a:gs>
            </a:gsLst>
            <a:lin ang="2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42615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微软雅黑"/>
                <a:ea typeface="微软雅黑"/>
              </a:rPr>
              <a:t>端侧·唤醒兜底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642615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5F5F5"/>
                </a:solidFill>
                <a:latin typeface="微软雅黑"/>
                <a:ea typeface="微软雅黑"/>
              </a:rPr>
              <a:t>Qwen3-0.6B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642615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DAD2D3"/>
                </a:solidFill>
                <a:latin typeface="微软雅黑"/>
                <a:ea typeface="微软雅黑"/>
              </a:rPr>
              <a:t>极快意图路由，与主模型分层，省电省算力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39310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FF7A45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639310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122"/>
              </a:gs>
            </a:gsLst>
            <a:lin ang="6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5030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7A45"/>
                </a:solidFill>
                <a:latin typeface="微软雅黑"/>
                <a:ea typeface="微软雅黑"/>
              </a:rPr>
              <a:t>云端·情感深聊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685030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5F5F5"/>
                </a:solidFill>
                <a:latin typeface="微软雅黑"/>
                <a:ea typeface="微软雅黑"/>
              </a:rPr>
              <a:t>MiniMax / 豆包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685030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DAD2D3"/>
                </a:solidFill>
                <a:latin typeface="微软雅黑"/>
                <a:ea typeface="微软雅黑"/>
              </a:rPr>
              <a:t>深度共情、长程人设走云端(BubblePal同款情感模型)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81725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FB7185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681725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251"/>
              </a:gs>
              <a:gs pos="100000">
                <a:srgbClr val="113"/>
              </a:gs>
            </a:gsLst>
            <a:lin ang="133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27445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B7185"/>
                </a:solidFill>
                <a:latin typeface="微软雅黑"/>
                <a:ea typeface="微软雅黑"/>
              </a:rPr>
              <a:t>拟人天花板(可选)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727445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5F5F5"/>
                </a:solidFill>
                <a:latin typeface="微软雅黑"/>
                <a:ea typeface="微软雅黑"/>
              </a:rPr>
              <a:t>Index-1.9B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727445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DAD2D3"/>
                </a:solidFill>
                <a:latin typeface="微软雅黑"/>
                <a:ea typeface="微软雅黑"/>
              </a:rPr>
              <a:t>角色一致性最强，但要投入工具链适配成本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FF4D4D"/>
                </a:solidFill>
                <a:latin typeface="微软雅黑"/>
                <a:ea typeface="微软雅黑"/>
              </a:rPr>
              <a:t>一句话：拟人优先 ≠ 选拟人最强的 Index——适配性是硬约束。最优解 = 官方适配的 Qwen3-1.7B + LoRA人设微调，云端配情感模型补深度。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WHEN COMPUTE IS TIGHT · 破局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算力不够，怎么办？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① 分层调度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0.6B兜唤醒/意图，1.7B跑主对话，省算力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② INT4量化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地瓜工具链INT4，显存砍半、吞吐翻倍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06624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98064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③ 端云协同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9544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难题异步上云，端侧只留实时/离线部分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06624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798064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④ LoRA微调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9544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注入固定人设/口令，补小模型拟人短板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13048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04488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⑤ 前缀KV缓存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15968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人设/工具放固定System前缀，首响-30~50%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13048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04488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⑥ 限长+流式TTS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15968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边生成边出声，体感延迟大降，更像人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19472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10912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⑦ 投机解码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22392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0.6B做draft给1.7B验证，解码+30~80%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919472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010912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⑧ 升级S100P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422392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5F5F5"/>
                </a:solidFill>
                <a:latin typeface="微软雅黑"/>
                <a:ea typeface="微软雅黑"/>
              </a:rPr>
              <a:t>实在不够上128T/24GB，可实时跑4~7B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0E10"/>
              </a:gs>
              <a:gs pos="100000">
                <a:srgbClr val="1A0A0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微软雅黑"/>
                <a:ea typeface="微软雅黑"/>
              </a:rPr>
              <a:t>ROADMAP · 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5F5F5"/>
                </a:solidFill>
                <a:latin typeface="微软雅黑"/>
                <a:ea typeface="微软雅黑"/>
              </a:rPr>
              <a:t>落地 5 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55"/>
              </a:gs>
              <a:gs pos="100000">
                <a:srgbClr val="77"/>
              </a:gs>
            </a:gsLst>
            <a:lin ang="77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B91C1C"/>
              </a:gs>
              <a:gs pos="100000">
                <a:srgbClr val="FF7A45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6002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6550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跑通基线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550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5F5F5"/>
                </a:solidFill>
                <a:latin typeface="微软雅黑"/>
                <a:ea typeface="微软雅黑"/>
              </a:rPr>
              <a:t>在 RDK S100 上跑官方 Qwen3-1.7B DEMO 作基线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B91C1C"/>
              </a:gs>
              <a:gs pos="100000">
                <a:srgbClr val="FF7A45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5146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5694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实测回填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694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5F5F5"/>
                </a:solidFill>
                <a:latin typeface="微软雅黑"/>
                <a:ea typeface="微软雅黑"/>
              </a:rPr>
              <a:t>用真实语料测延迟/吞吐/拟人盲评，回填本报告数据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290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B91C1C"/>
              </a:gs>
              <a:gs pos="100000">
                <a:srgbClr val="FF7A45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1640" y="34290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34838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量化提速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4838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5F5F5"/>
                </a:solidFill>
                <a:latin typeface="微软雅黑"/>
                <a:ea typeface="微软雅黑"/>
              </a:rPr>
              <a:t>INT4 + 前缀缓存 + 限长流式TTS，首响压到 &lt;1s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3434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B91C1C"/>
              </a:gs>
              <a:gs pos="100000">
                <a:srgbClr val="FF7A45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3434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43982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接云端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3982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5F5F5"/>
                </a:solidFill>
                <a:latin typeface="微软雅黑"/>
                <a:ea typeface="微软雅黑"/>
              </a:rPr>
              <a:t>按难度/时延/联网路由，端云协同对齐竞品质量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578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B91C1C"/>
              </a:gs>
              <a:gs pos="100000">
                <a:srgbClr val="FF7A45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578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91640" y="52578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3A2226"/>
            </a:solidFill>
          </a:ln>
          <a:effectLst/>
          <a:gradFill>
            <a:gsLst>
              <a:gs pos="0">
                <a:srgbClr val="28"/>
              </a:gs>
              <a:gs pos="100000">
                <a:srgbClr val="20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4D4D"/>
                </a:solidFill>
                <a:latin typeface="微软雅黑"/>
                <a:ea typeface="微软雅黑"/>
              </a:rPr>
              <a:t>拟人微调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3126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5F5F5"/>
                </a:solidFill>
                <a:latin typeface="微软雅黑"/>
                <a:ea typeface="微软雅黑"/>
              </a:rPr>
              <a:t>LoRA注入人设；强陪伴场景对比适配 Index-1.9B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C8E90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