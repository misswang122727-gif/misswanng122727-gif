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0E10"/>
              </a:gs>
              <a:gs pos="100000">
                <a:srgbClr val="1A0A0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463040"/>
            <a:ext cx="5486400" cy="54864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B91C1C"/>
              </a:gs>
              <a:gs pos="100000">
                <a:srgbClr val="0E0E1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2926080"/>
            <a:ext cx="4114800" cy="41148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FF7A45"/>
              </a:gs>
              <a:gs pos="100000">
                <a:srgbClr val="0E0E1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F4D4D"/>
                </a:solidFill>
                <a:latin typeface="微软雅黑"/>
                <a:ea typeface="微软雅黑"/>
              </a:rPr>
              <a:t>HUMANOID ROBOT · ON-DEVICE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9601200" cy="18288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5F5F5"/>
                </a:solidFill>
                <a:latin typeface="微软雅黑"/>
                <a:ea typeface="微软雅黑"/>
              </a:rPr>
              <a:t>人形机器人端侧拟人模型选型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4D4D"/>
                </a:solidFill>
                <a:latin typeface="微软雅黑"/>
                <a:ea typeface="微软雅黑"/>
              </a:rPr>
              <a:t>竞品方案参考 + RDK S100 落地建议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2336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55"/>
              </a:gs>
              <a:gs pos="100000">
                <a:srgbClr val="77"/>
              </a:gs>
            </a:gsLst>
            <a:lin ang="77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51960"/>
            <a:ext cx="960120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DAD2D3"/>
                </a:solidFill>
                <a:latin typeface="微软雅黑"/>
                <a:ea typeface="微软雅黑"/>
              </a:rPr>
              <a:t>区分「动作大模型 vs 拟人对话模型」，对照宇树/智元/特斯拉/Figure 真实方案，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DAD2D3"/>
                </a:solidFill>
                <a:latin typeface="微软雅黑"/>
                <a:ea typeface="微软雅黑"/>
              </a:rPr>
              <a:t>在地瓜 RDK S100（80 TOPS / 12GB）上选出最优落地路径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9C8E90"/>
                </a:solidFill>
                <a:latin typeface="微软雅黑"/>
                <a:ea typeface="微软雅黑"/>
              </a:rPr>
              <a:t>2026-06　|　性能为参考估算，建议实机实测后回填；竞品信息据公开资料整理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0E10"/>
              </a:gs>
              <a:gs pos="100000">
                <a:srgbClr val="1A0A0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4D4D"/>
                </a:solidFill>
                <a:latin typeface="微软雅黑"/>
                <a:ea typeface="微软雅黑"/>
              </a:rPr>
              <a:t>KEY INSIGHT · 别选错对象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5F5F5"/>
                </a:solidFill>
                <a:latin typeface="微软雅黑"/>
                <a:ea typeface="微软雅黑"/>
              </a:rPr>
              <a:t>关键认知：机器人有「两个大脑」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55"/>
              </a:gs>
              <a:gs pos="100000">
                <a:srgbClr val="77"/>
              </a:gs>
            </a:gsLst>
            <a:lin ang="77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40680" cy="4206240"/>
          </a:xfrm>
          <a:prstGeom prst="roundRect">
            <a:avLst>
              <a:gd name="adj" fmla="val 4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40680" cy="10972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85"/>
              </a:gs>
              <a:gs pos="100000">
                <a:srgbClr val="28"/>
              </a:gs>
            </a:gsLst>
            <a:lin ang="2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8463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B91C1C"/>
                </a:solidFill>
                <a:latin typeface="微软雅黑"/>
                <a:ea typeface="微软雅黑"/>
              </a:rPr>
              <a:t>🦾 具身操作大模型 (VLA)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846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DAD2D3"/>
                </a:solidFill>
                <a:latin typeface="微软雅黑"/>
                <a:ea typeface="微软雅黑"/>
              </a:rPr>
              <a:t>管「怎么动手脚」——抓取/行走/装配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846320" cy="23774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5F5F5"/>
                </a:solidFill>
                <a:latin typeface="微软雅黑"/>
                <a:ea typeface="微软雅黑"/>
              </a:rPr>
              <a:t>• 代表：宇树 UnifoLM、智元 GO-1(ViLLA)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5F5F5"/>
                </a:solidFill>
                <a:latin typeface="微软雅黑"/>
                <a:ea typeface="微软雅黑"/>
              </a:rPr>
              <a:t>• 特斯拉端到端、Figure Helix、π0/RT-2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5F5F5"/>
                </a:solidFill>
                <a:latin typeface="微软雅黑"/>
                <a:ea typeface="微软雅黑"/>
              </a:rPr>
              <a:t>• 算力重，多跑在 GPU/云或独立运控单元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5440680" cy="4206240"/>
          </a:xfrm>
          <a:prstGeom prst="roundRect">
            <a:avLst>
              <a:gd name="adj" fmla="val 4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1600200"/>
            <a:ext cx="5440680" cy="10972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255"/>
              </a:gs>
              <a:gs pos="100000">
                <a:srgbClr val="122"/>
              </a:gs>
            </a:gsLst>
            <a:lin ang="6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874519"/>
            <a:ext cx="48463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F7A45"/>
                </a:solidFill>
                <a:latin typeface="微软雅黑"/>
                <a:ea typeface="微软雅黑"/>
              </a:rPr>
              <a:t>🗣 拟人对话大模型 (你要选的)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514600"/>
            <a:ext cx="4846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DAD2D3"/>
                </a:solidFill>
                <a:latin typeface="微软雅黑"/>
                <a:ea typeface="微软雅黑"/>
              </a:rPr>
              <a:t>管「怎么说话、像不像人」——对话/共情/人设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154680"/>
            <a:ext cx="4846320" cy="23774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5F5F5"/>
                </a:solidFill>
                <a:latin typeface="微软雅黑"/>
                <a:ea typeface="微软雅黑"/>
              </a:rPr>
              <a:t>• 代表：Qwen / 豆包 / GPT / Grok 等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5F5F5"/>
                </a:solidFill>
                <a:latin typeface="微软雅黑"/>
                <a:ea typeface="微软雅黑"/>
              </a:rPr>
              <a:t>• 厂商很少把它当卖点公开具体型号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5F5F5"/>
                </a:solidFill>
                <a:latin typeface="微软雅黑"/>
                <a:ea typeface="微软雅黑"/>
              </a:rPr>
              <a:t>• 可端侧小模型，也常端云协同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30000"/>
            </a:avLst>
          </a:prstGeom>
          <a:ln w="12700">
            <a:solidFill>
              <a:srgbClr val="FF7A45"/>
            </a:solidFill>
          </a:ln>
          <a:effectLst/>
          <a:gradFill>
            <a:gsLst>
              <a:gs pos="0">
                <a:srgbClr val="51"/>
              </a:gs>
              <a:gs pos="100000">
                <a:srgbClr val="22"/>
              </a:gs>
            </a:gsLst>
            <a:lin ang="26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943600"/>
            <a:ext cx="1069848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FF4D4D"/>
                </a:solidFill>
                <a:latin typeface="微软雅黑"/>
                <a:ea typeface="微软雅黑"/>
              </a:rPr>
              <a:t>⚠ UnifoLM / GO-1 是动作模型，不要拿它们当「对话模型」对标——你的选型只看右边这一栏。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0E10"/>
              </a:gs>
              <a:gs pos="100000">
                <a:srgbClr val="1A0A0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4D4D"/>
                </a:solidFill>
                <a:latin typeface="微软雅黑"/>
                <a:ea typeface="微软雅黑"/>
              </a:rPr>
              <a:t>COMPETITOR MAP · 同行用什么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5F5F5"/>
                </a:solidFill>
                <a:latin typeface="微软雅黑"/>
                <a:ea typeface="微软雅黑"/>
              </a:rPr>
              <a:t>竞品方案对照（对话/拟人层）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55"/>
              </a:gs>
              <a:gs pos="100000">
                <a:srgbClr val="77"/>
              </a:gs>
            </a:gsLst>
            <a:lin ang="77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1670" cy="39684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23390"/>
                <a:gridCol w="1491317"/>
                <a:gridCol w="2050561"/>
                <a:gridCol w="3541878"/>
                <a:gridCol w="1584524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厂商 / 产品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形态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动作模型(VLA)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对话/拟人模型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端侧/云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特斯拉 Optimus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人形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自研端到端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Grok (xAI)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云·大模型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Figure 02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人形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Helix(自研,原OpenAI)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原OpenAI→自研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云/边·大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宇树 Unitree G1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人形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UnifoLM(统一)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多模态语音+图像大模型(未公开型号)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Jetson Orin端侧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智元 远征 A2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商用人形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GO-1 (ViLLA)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语音对话/导览交互(未公开型号)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端+云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跃然 BubblePal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对话挂件(年销20万)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通用大模型(豆包/MiniMax/智谱)+垂类小模型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端云协同 ✓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珞博 Fuzozo / 萌友 Ropet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AI陪伴(月销2万+)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云大模型+情感垂类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端云协同 ✓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C8E90"/>
                </a:solidFill>
                <a:latin typeface="微软雅黑"/>
                <a:ea typeface="微软雅黑"/>
              </a:rPr>
              <a:t>规律：顶级人形把「对话脑」交给大模型/云(Grok/OpenAI)；真正大规模落地拟人对话的陪伴硬件，走「端云协同+端侧小模型」。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0E10"/>
              </a:gs>
              <a:gs pos="100000">
                <a:srgbClr val="1A0A0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4D4D"/>
                </a:solidFill>
                <a:latin typeface="微软雅黑"/>
                <a:ea typeface="微软雅黑"/>
              </a:rPr>
              <a:t>THE PATTERN · 主流打法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5F5F5"/>
                </a:solidFill>
                <a:latin typeface="微软雅黑"/>
                <a:ea typeface="微软雅黑"/>
              </a:rPr>
              <a:t>行业真相：拟人对话 ≈ 端云协同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55"/>
              </a:gs>
              <a:gs pos="100000">
                <a:srgbClr val="77"/>
              </a:gs>
            </a:gsLst>
            <a:lin ang="77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5F5F5"/>
                </a:solidFill>
                <a:latin typeface="微软雅黑"/>
                <a:ea typeface="微软雅黑"/>
              </a:rPr>
              <a:t>以年销 20 万台的 BubblePal 为例，两层结构：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5577840" cy="1417320"/>
          </a:xfrm>
          <a:prstGeom prst="roundRect">
            <a:avLst>
              <a:gd name="adj" fmla="val 6000"/>
            </a:avLst>
          </a:prstGeom>
          <a:ln w="15875">
            <a:solidFill>
              <a:srgbClr val="FF4D4D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21992"/>
            <a:ext cx="51206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4D4D"/>
                </a:solidFill>
                <a:latin typeface="微软雅黑"/>
                <a:ea typeface="微软雅黑"/>
              </a:rPr>
              <a:t>端侧 · 小模型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60904"/>
            <a:ext cx="51206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5F5F5"/>
                </a:solidFill>
                <a:latin typeface="微软雅黑"/>
                <a:ea typeface="微软雅黑"/>
              </a:rPr>
              <a:t>唤醒、意图、快闲聊、断网兜底、隐私敏感对话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81528"/>
            <a:ext cx="512064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9C8E90"/>
                </a:solidFill>
                <a:latin typeface="微软雅黑"/>
                <a:ea typeface="微软雅黑"/>
              </a:rPr>
              <a:t>低延迟 / 省算力 / 离线可用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39"/>
            <a:ext cx="5577840" cy="1417320"/>
          </a:xfrm>
          <a:prstGeom prst="roundRect">
            <a:avLst>
              <a:gd name="adj" fmla="val 6000"/>
            </a:avLst>
          </a:prstGeom>
          <a:ln w="15875">
            <a:solidFill>
              <a:srgbClr val="B91C1C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13631"/>
            <a:ext cx="51206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B91C1C"/>
                </a:solidFill>
                <a:latin typeface="微软雅黑"/>
                <a:ea typeface="微软雅黑"/>
              </a:rPr>
              <a:t>云端 · 大模型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52543"/>
            <a:ext cx="51206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5F5F5"/>
                </a:solidFill>
                <a:latin typeface="微软雅黑"/>
                <a:ea typeface="微软雅黑"/>
              </a:rPr>
              <a:t>复杂问答、深度共情、长程人设、知识更新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73167"/>
            <a:ext cx="512064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9C8E90"/>
                </a:solidFill>
                <a:latin typeface="微软雅黑"/>
                <a:ea typeface="微软雅黑"/>
              </a:rPr>
              <a:t>高质量 / 不占端侧算力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49240"/>
            <a:ext cx="566928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DAD2D3"/>
                </a:solidFill>
                <a:latin typeface="微软雅黑"/>
                <a:ea typeface="微软雅黑"/>
              </a:rPr>
              <a:t>⇅ 路由器按「难度/时延/是否联网」动态分流，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DAD2D3"/>
                </a:solidFill>
                <a:latin typeface="微软雅黑"/>
                <a:ea typeface="微软雅黑"/>
              </a:rPr>
              <a:t>端侧先出声(流式TTS)，云端结果到了再续——体感最像人。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54480"/>
            <a:ext cx="5212080" cy="4480560"/>
          </a:xfrm>
          <a:prstGeom prst="roundRect">
            <a:avLst>
              <a:gd name="adj" fmla="val 4000"/>
            </a:avLst>
          </a:prstGeom>
          <a:ln w="15875">
            <a:solidFill>
              <a:srgbClr val="FF7A45"/>
            </a:solidFill>
          </a:ln>
          <a:effectLst/>
          <a:gradFill>
            <a:gsLst>
              <a:gs pos="0">
                <a:srgbClr val="251A1D"/>
              </a:gs>
              <a:gs pos="100000">
                <a:srgbClr val="1C1416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828800"/>
            <a:ext cx="46634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7A45"/>
                </a:solidFill>
                <a:latin typeface="微软雅黑"/>
                <a:ea typeface="微软雅黑"/>
              </a:rPr>
              <a:t>💡 对你的意义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468880"/>
            <a:ext cx="4663440" cy="3291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300" b="0">
                <a:solidFill>
                  <a:srgbClr val="F5F5F5"/>
                </a:solidFill>
                <a:latin typeface="微软雅黑"/>
                <a:ea typeface="微软雅黑"/>
              </a:rPr>
              <a:t>• 纯端侧 1.7B 单挑，拟人质量难追平竞品的「云端大模型」体验；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300" b="0">
                <a:solidFill>
                  <a:srgbClr val="F5F5F5"/>
                </a:solidFill>
                <a:latin typeface="微软雅黑"/>
                <a:ea typeface="微软雅黑"/>
              </a:rPr>
              <a:t>• 对标竞品 = 端侧 Qwen 小模型 + 云端大模型兜底；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300" b="0">
                <a:solidFill>
                  <a:srgbClr val="F5F5F5"/>
                </a:solidFill>
                <a:latin typeface="微软雅黑"/>
                <a:ea typeface="微软雅黑"/>
              </a:rPr>
              <a:t>• RDK S100 算力够，端侧可上 Qwen3-1.7B→4B 提质；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300" b="0">
                <a:solidFill>
                  <a:srgbClr val="F5F5F5"/>
                </a:solidFill>
                <a:latin typeface="微软雅黑"/>
                <a:ea typeface="微软雅黑"/>
              </a:rPr>
              <a:t>• 断网/隐私/低延迟场景，端侧小模型是刚需，不可省。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0E10"/>
              </a:gs>
              <a:gs pos="100000">
                <a:srgbClr val="1A0A0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4D4D"/>
                </a:solidFill>
                <a:latin typeface="微软雅黑"/>
                <a:ea typeface="微软雅黑"/>
              </a:rPr>
              <a:t>STRAIGHT ANSWER · 诚实回答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5F5F5"/>
                </a:solidFill>
                <a:latin typeface="微软雅黑"/>
                <a:ea typeface="微软雅黑"/>
              </a:rPr>
              <a:t>「1.7B 同行谁用过？」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55"/>
              </a:gs>
              <a:gs pos="100000">
                <a:srgbClr val="77"/>
              </a:gs>
            </a:gsLst>
            <a:lin ang="77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4000"/>
            </a:avLst>
          </a:prstGeom>
          <a:ln w="15875">
            <a:solidFill>
              <a:srgbClr val="FBBF24"/>
            </a:solidFill>
          </a:ln>
          <a:effectLst/>
          <a:gradFill>
            <a:gsLst>
              <a:gs pos="0">
                <a:srgbClr val="51"/>
              </a:gs>
              <a:gs pos="100000">
                <a:srgbClr val="36"/>
              </a:gs>
            </a:gsLst>
            <a:lin ang="2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BBF24"/>
                </a:solidFill>
                <a:latin typeface="微软雅黑"/>
                <a:ea typeface="微软雅黑"/>
              </a:rPr>
              <a:t>没有人形机器人厂商公开说过「端侧跑 Qwen-1.7B 做对话」——端侧精确参数量行业基本不披露。所以我不编。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5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25496"/>
            <a:ext cx="104241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4D4D"/>
                </a:solidFill>
                <a:latin typeface="微软雅黑"/>
                <a:ea typeface="微软雅黑"/>
              </a:rPr>
              <a:t>✅ 但选 Qwen 家族 = 走在行业主线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5F5F5"/>
                </a:solidFill>
                <a:latin typeface="微软雅黑"/>
                <a:ea typeface="微软雅黑"/>
              </a:rPr>
              <a:t>Qwen 是国内具身/智能硬件事实基座：智元、星海图、连阿里自己下场做具身都用 Qwen；选 Qwen 与全行业同源。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58768"/>
            <a:ext cx="11064240" cy="1051560"/>
          </a:xfrm>
          <a:prstGeom prst="roundRect">
            <a:avLst>
              <a:gd name="adj" fmla="val 5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86784"/>
            <a:ext cx="104241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4D4D"/>
                </a:solidFill>
                <a:latin typeface="微软雅黑"/>
                <a:ea typeface="微软雅黑"/>
              </a:rPr>
              <a:t>✅ 1.5~3B 端侧小模型已被陪伴硬件验证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07408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5F5F5"/>
                </a:solidFill>
                <a:latin typeface="微软雅黑"/>
                <a:ea typeface="微软雅黑"/>
              </a:rPr>
              <a:t>BubblePal/Fuzozo/Ropet 等量产陪伴硬件，端侧就是这一档小模型做意图/快闲聊，可靠性已被市场验证。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0056"/>
            <a:ext cx="11064240" cy="1051560"/>
          </a:xfrm>
          <a:prstGeom prst="roundRect">
            <a:avLst>
              <a:gd name="adj" fmla="val 5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48072"/>
            <a:ext cx="104241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4D4D"/>
                </a:solidFill>
                <a:latin typeface="微软雅黑"/>
                <a:ea typeface="微软雅黑"/>
              </a:rPr>
              <a:t>⚠ 1.7B 是「RDK S100 纯端侧的合理起点」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68696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5F5F5"/>
                </a:solidFill>
                <a:latin typeface="微软雅黑"/>
                <a:ea typeface="微软雅黑"/>
              </a:rPr>
              <a:t>不是别人验证过的爆款配置，而是算力约束下的理性选择；要更高拟人质量就配云端或上 4B。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0E10"/>
              </a:gs>
              <a:gs pos="100000">
                <a:srgbClr val="1A0A0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4D4D"/>
                </a:solidFill>
                <a:latin typeface="微软雅黑"/>
                <a:ea typeface="微软雅黑"/>
              </a:rPr>
              <a:t>YOUR PLATFORM · 你的平台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5F5F5"/>
                </a:solidFill>
                <a:latin typeface="微软雅黑"/>
                <a:ea typeface="微软雅黑"/>
              </a:rPr>
              <a:t>地瓜 RDK S100（80 TOPS / 12GB）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55"/>
              </a:gs>
              <a:gs pos="100000">
                <a:srgbClr val="77"/>
              </a:gs>
            </a:gsLst>
            <a:lin ang="77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9C8E90"/>
                </a:solidFill>
                <a:latin typeface="微软雅黑"/>
                <a:ea typeface="微软雅黑"/>
              </a:rPr>
              <a:t>BPU 算力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39112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F4D4D"/>
                </a:solidFill>
                <a:latin typeface="微软雅黑"/>
                <a:ea typeface="微软雅黑"/>
              </a:rPr>
              <a:t>80 TOPS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5117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AD2D3"/>
                </a:solidFill>
                <a:latin typeface="微软雅黑"/>
                <a:ea typeface="微软雅黑"/>
              </a:rPr>
              <a:t>Nash·Transformer优化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09928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9C8E90"/>
                </a:solidFill>
                <a:latin typeface="微软雅黑"/>
                <a:ea typeface="微软雅黑"/>
              </a:rPr>
              <a:t>CPU 大脑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39112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F4D4D"/>
                </a:solidFill>
                <a:latin typeface="微软雅黑"/>
                <a:ea typeface="微软雅黑"/>
              </a:rPr>
              <a:t>6×A78AE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5117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AD2D3"/>
                </a:solidFill>
                <a:latin typeface="微软雅黑"/>
                <a:ea typeface="微软雅黑"/>
              </a:rPr>
              <a:t>100K DMIPS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709928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9C8E90"/>
                </a:solidFill>
                <a:latin typeface="微软雅黑"/>
                <a:ea typeface="微软雅黑"/>
              </a:rPr>
              <a:t>MCU 小脑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39112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F4D4D"/>
                </a:solidFill>
                <a:latin typeface="微软雅黑"/>
                <a:ea typeface="微软雅黑"/>
              </a:rPr>
              <a:t>4×R52+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55117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AD2D3"/>
                </a:solidFill>
                <a:latin typeface="微软雅黑"/>
                <a:ea typeface="微软雅黑"/>
              </a:rPr>
              <a:t>关节实时运控(独立)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72968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8269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9C8E90"/>
                </a:solidFill>
                <a:latin typeface="微软雅黑"/>
                <a:ea typeface="微软雅黑"/>
              </a:rPr>
              <a:t>运行内存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11880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F4D4D"/>
                </a:solidFill>
                <a:latin typeface="微软雅黑"/>
                <a:ea typeface="微软雅黑"/>
              </a:rPr>
              <a:t>12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23944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AD2D3"/>
                </a:solidFill>
                <a:latin typeface="微软雅黑"/>
                <a:ea typeface="微软雅黑"/>
              </a:rPr>
              <a:t>可载 7B-INT4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172968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8269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9C8E90"/>
                </a:solidFill>
                <a:latin typeface="微软雅黑"/>
                <a:ea typeface="微软雅黑"/>
              </a:rPr>
              <a:t>参考价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611880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F4D4D"/>
                </a:solidFill>
                <a:latin typeface="微软雅黑"/>
                <a:ea typeface="微软雅黑"/>
              </a:rPr>
              <a:t>¥2499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123944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AD2D3"/>
                </a:solidFill>
                <a:latin typeface="微软雅黑"/>
                <a:ea typeface="微软雅黑"/>
              </a:rPr>
              <a:t>S100P:128T/24GB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172968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28269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9C8E90"/>
                </a:solidFill>
                <a:latin typeface="微软雅黑"/>
                <a:ea typeface="微软雅黑"/>
              </a:rPr>
              <a:t>官方适配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611880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F4D4D"/>
                </a:solidFill>
                <a:latin typeface="微软雅黑"/>
                <a:ea typeface="微软雅黑"/>
              </a:rPr>
              <a:t>Qwen3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123944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AD2D3"/>
                </a:solidFill>
                <a:latin typeface="微软雅黑"/>
                <a:ea typeface="微软雅黑"/>
              </a:rPr>
              <a:t>ModelZoo 已提供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4000"/>
            </a:avLst>
          </a:prstGeom>
          <a:ln w="12700">
            <a:solidFill>
              <a:srgbClr val="FF7A45"/>
            </a:solidFill>
          </a:ln>
          <a:effectLst/>
          <a:gradFill>
            <a:gsLst>
              <a:gs pos="0">
                <a:srgbClr val="51"/>
              </a:gs>
              <a:gs pos="100000">
                <a:srgbClr val="22"/>
              </a:gs>
            </a:gsLst>
            <a:lin ang="26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32120"/>
            <a:ext cx="10607040" cy="8229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5F5F5"/>
                </a:solidFill>
                <a:latin typeface="微软雅黑"/>
                <a:ea typeface="微软雅黑"/>
              </a:rPr>
              <a:t>⚠ BPU 非 GPU：模型必须经地瓜工具链编译+INT8/INT4量化，优先选官方 ModelZoo 已适配的 Qwen3；运控由独立 MCU 承担，BPU 可专注大模型。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0E10"/>
              </a:gs>
              <a:gs pos="100000">
                <a:srgbClr val="1A0A0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4D4D"/>
                </a:solidFill>
                <a:latin typeface="微软雅黑"/>
                <a:ea typeface="微软雅黑"/>
              </a:rPr>
              <a:t>CANDIDATES · 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5F5F5"/>
                </a:solidFill>
                <a:latin typeface="微软雅黑"/>
                <a:ea typeface="微软雅黑"/>
              </a:rPr>
              <a:t>端侧候选小模型（含适配度）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55"/>
              </a:gs>
              <a:gs pos="100000">
                <a:srgbClr val="77"/>
              </a:gs>
            </a:gsLst>
            <a:lin ang="77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1669" cy="4023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63127"/>
                <a:gridCol w="981563"/>
                <a:gridCol w="1276033"/>
                <a:gridCol w="1079720"/>
                <a:gridCol w="1079720"/>
                <a:gridCol w="1079720"/>
                <a:gridCol w="1079720"/>
                <a:gridCol w="2552066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INT4显存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中文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拟人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指令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工具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RDK S100适配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Qwen3-0.6B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0.6B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~0.5GB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✓ 官方·兜底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Qwen3-1.7B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1.7B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~1.3GB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★★★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✓ 官方·首选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Qwen2.5-3B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3B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~2.1GB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✓ 易适配·更稳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Qwen3-4B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4B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~2.7GB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✓ 官方·提质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Index-1.9B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1.9B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~1.3GB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△ 需适配·拟人强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MiniCPM3-4B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4B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~2.6GB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△ 需适配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Qwen2.5-7B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7B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~4.3GB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✓ 偏重·质量顶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C8E90"/>
                </a:solidFill>
                <a:latin typeface="微软雅黑"/>
                <a:ea typeface="微软雅黑"/>
              </a:rPr>
              <a:t>「拟人」=人格/口吻一致度；适配：✓ 官方ModelZoo已有 / △ 需自行工具链转换。算力有限优先 ✓ 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0E10"/>
              </a:gs>
              <a:gs pos="100000">
                <a:srgbClr val="1A0A0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4D4D"/>
                </a:solidFill>
                <a:latin typeface="微软雅黑"/>
                <a:ea typeface="微软雅黑"/>
              </a:rPr>
              <a:t>SCORING · 加权评分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5F5F5"/>
                </a:solidFill>
                <a:latin typeface="微软雅黑"/>
                <a:ea typeface="微软雅黑"/>
              </a:rPr>
              <a:t>综合评分与排名（满分10）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55"/>
              </a:gs>
              <a:gs pos="100000">
                <a:srgbClr val="77"/>
              </a:gs>
            </a:gsLst>
            <a:lin ang="77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1668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64971"/>
                <a:gridCol w="1079720"/>
                <a:gridCol w="1079720"/>
                <a:gridCol w="1079720"/>
                <a:gridCol w="1079720"/>
                <a:gridCol w="981563"/>
                <a:gridCol w="1177876"/>
                <a:gridCol w="274837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速度30%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拟人25%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准确20%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资源15%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中文10%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加权总分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结论</a:t>
                      </a:r>
                    </a:p>
                  </a:txBody>
                  <a:tcPr marL="45720" marR="45720" marT="18288" marB="18288" anchor="ctr">
                    <a:solidFill>
                      <a:srgbClr val="2A14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Qwen3-1.7B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7.0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7.5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7.93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🥇 纯端侧首选(官方)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Index-1.9B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6.5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7.93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4D4D"/>
                          </a:solidFill>
                          <a:latin typeface="微软雅黑"/>
                          <a:ea typeface="微软雅黑"/>
                        </a:rPr>
                        <a:t>🏅 强拟人陪伴(需适配)</a:t>
                      </a:r>
                    </a:p>
                  </a:txBody>
                  <a:tcPr marL="45720" marR="45720" marT="9144" marB="9144" anchor="ctr">
                    <a:solidFill>
                      <a:srgbClr val="3A1A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Qwen2.5-3B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7.5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7.5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7.85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🥈 质量更稳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Qwen3-4B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6.5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6.5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7.63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提质·建议配云/S100P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Qwen3-0.6B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10.0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4.0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5.0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10.0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7.10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唤醒/意图兜底</a:t>
                      </a:r>
                    </a:p>
                  </a:txBody>
                  <a:tcPr marL="45720" marR="45720" marT="9144" marB="9144" anchor="ctr">
                    <a:solidFill>
                      <a:srgbClr val="1C14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Qwen2.5-7B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5.0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5.0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7.10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DAD2D3"/>
                          </a:solidFill>
                          <a:latin typeface="微软雅黑"/>
                          <a:ea typeface="微软雅黑"/>
                        </a:rPr>
                        <a:t>质量顶·S100吃力</a:t>
                      </a:r>
                    </a:p>
                  </a:txBody>
                  <a:tcPr marL="45720" marR="45720" marT="9144" marB="9144" anchor="ctr">
                    <a:solidFill>
                      <a:srgbClr val="241A1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C8E90"/>
                </a:solidFill>
                <a:latin typeface="微软雅黑"/>
                <a:ea typeface="微软雅黑"/>
              </a:rPr>
              <a:t>权重：速度30%&gt;拟人25%&gt;准确20%&gt;资源15%&gt;中文10%，可按电池/实时性预算调整；评分为相对估算，建议盲测回填。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0E10"/>
              </a:gs>
              <a:gs pos="100000">
                <a:srgbClr val="1A0A0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4D4D"/>
                </a:solidFill>
                <a:latin typeface="微软雅黑"/>
                <a:ea typeface="微软雅黑"/>
              </a:rPr>
              <a:t>RECOMMENDATION · 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5F5F5"/>
                </a:solidFill>
                <a:latin typeface="微软雅黑"/>
                <a:ea typeface="微软雅黑"/>
              </a:rPr>
              <a:t>落地方案：端云协同（对标竞品）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55"/>
              </a:gs>
              <a:gs pos="100000">
                <a:srgbClr val="77"/>
              </a:gs>
            </a:gsLst>
            <a:lin ang="77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960120"/>
          </a:xfrm>
          <a:prstGeom prst="roundRect">
            <a:avLst>
              <a:gd name="adj" fmla="val 6000"/>
            </a:avLst>
          </a:prstGeom>
          <a:ln w="15875">
            <a:solidFill>
              <a:srgbClr val="FF4D4D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8872" cy="9601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255"/>
              </a:gs>
              <a:gs pos="100000">
                <a:srgbClr val="77"/>
              </a:gs>
            </a:gsLst>
            <a:lin ang="77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246888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4D4D"/>
                </a:solidFill>
                <a:latin typeface="微软雅黑"/>
                <a:ea typeface="微软雅黑"/>
              </a:rPr>
              <a:t>端侧·主对话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2834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5F5F5"/>
                </a:solidFill>
                <a:latin typeface="微软雅黑"/>
                <a:ea typeface="微软雅黑"/>
              </a:rPr>
              <a:t>Qwen3-1.7B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120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DAD2D3"/>
                </a:solidFill>
                <a:latin typeface="微软雅黑"/>
                <a:ea typeface="微软雅黑"/>
              </a:rPr>
              <a:t>官方已适配，&lt;0.6s首响，快闲聊/意图/断网兜底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79192"/>
            <a:ext cx="11064240" cy="960120"/>
          </a:xfrm>
          <a:prstGeom prst="roundRect">
            <a:avLst>
              <a:gd name="adj" fmla="val 6000"/>
            </a:avLst>
          </a:prstGeom>
          <a:ln w="15875">
            <a:solidFill>
              <a:srgbClr val="B91C1C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679192"/>
            <a:ext cx="118872" cy="9601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185"/>
              </a:gs>
              <a:gs pos="100000">
                <a:srgbClr val="28"/>
              </a:gs>
            </a:gsLst>
            <a:lin ang="2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24912"/>
            <a:ext cx="246888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B91C1C"/>
                </a:solidFill>
                <a:latin typeface="微软雅黑"/>
                <a:ea typeface="微软雅黑"/>
              </a:rPr>
              <a:t>端侧·唤醒兜底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24912"/>
            <a:ext cx="2834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5F5F5"/>
                </a:solidFill>
                <a:latin typeface="微软雅黑"/>
                <a:ea typeface="微软雅黑"/>
              </a:rPr>
              <a:t>Qwen3-0.6B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24912"/>
            <a:ext cx="5120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DAD2D3"/>
                </a:solidFill>
                <a:latin typeface="微软雅黑"/>
                <a:ea typeface="微软雅黑"/>
              </a:rPr>
              <a:t>极快路由，与主模型分层，省电省算力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58184"/>
            <a:ext cx="11064240" cy="960120"/>
          </a:xfrm>
          <a:prstGeom prst="roundRect">
            <a:avLst>
              <a:gd name="adj" fmla="val 6000"/>
            </a:avLst>
          </a:prstGeom>
          <a:ln w="15875">
            <a:solidFill>
              <a:srgbClr val="FF7A45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758184"/>
            <a:ext cx="118872" cy="9601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255"/>
              </a:gs>
              <a:gs pos="100000">
                <a:srgbClr val="122"/>
              </a:gs>
            </a:gsLst>
            <a:lin ang="69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03904"/>
            <a:ext cx="246888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7A45"/>
                </a:solidFill>
                <a:latin typeface="微软雅黑"/>
                <a:ea typeface="微软雅黑"/>
              </a:rPr>
              <a:t>云端·高质量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803904"/>
            <a:ext cx="2834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5F5F5"/>
                </a:solidFill>
                <a:latin typeface="微软雅黑"/>
                <a:ea typeface="微软雅黑"/>
              </a:rPr>
              <a:t>通义/豆包/自研大模型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803904"/>
            <a:ext cx="5120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DAD2D3"/>
                </a:solidFill>
                <a:latin typeface="微软雅黑"/>
                <a:ea typeface="微软雅黑"/>
              </a:rPr>
              <a:t>复杂问答、深度共情、长程人设交给云端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37176"/>
            <a:ext cx="11064240" cy="960120"/>
          </a:xfrm>
          <a:prstGeom prst="roundRect">
            <a:avLst>
              <a:gd name="adj" fmla="val 6000"/>
            </a:avLst>
          </a:prstGeom>
          <a:ln w="15875">
            <a:solidFill>
              <a:srgbClr val="FB7185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837176"/>
            <a:ext cx="118872" cy="9601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251"/>
              </a:gs>
              <a:gs pos="100000">
                <a:srgbClr val="113"/>
              </a:gs>
            </a:gsLst>
            <a:lin ang="133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82896"/>
            <a:ext cx="246888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B7185"/>
                </a:solidFill>
                <a:latin typeface="微软雅黑"/>
                <a:ea typeface="微软雅黑"/>
              </a:rPr>
              <a:t>强拟人陪伴(可选)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882896"/>
            <a:ext cx="2834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5F5F5"/>
                </a:solidFill>
                <a:latin typeface="微软雅黑"/>
                <a:ea typeface="微软雅黑"/>
              </a:rPr>
              <a:t>Index-1.9B / LoRA微调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882896"/>
            <a:ext cx="5120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DAD2D3"/>
                </a:solidFill>
                <a:latin typeface="微软雅黑"/>
                <a:ea typeface="微软雅黑"/>
              </a:rPr>
              <a:t>角色一致性专精；小模型靠微调补拟人短板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FF4D4D"/>
                </a:solidFill>
                <a:latin typeface="微软雅黑"/>
                <a:ea typeface="微软雅黑"/>
              </a:rPr>
              <a:t>一句话：端侧 Qwen3-1.7B 兜住实时与离线，云端大模型兜住质量——这正是 BubblePal 等量产产品验证过的结构。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0E10"/>
              </a:gs>
              <a:gs pos="100000">
                <a:srgbClr val="1A0A0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4D4D"/>
                </a:solidFill>
                <a:latin typeface="微软雅黑"/>
                <a:ea typeface="微软雅黑"/>
              </a:rPr>
              <a:t>WHEN COMPUTE IS TIGHT · 破局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5F5F5"/>
                </a:solidFill>
                <a:latin typeface="微软雅黑"/>
                <a:ea typeface="微软雅黑"/>
              </a:rPr>
              <a:t>算力不够，怎么办？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55"/>
              </a:gs>
              <a:gs pos="100000">
                <a:srgbClr val="77"/>
              </a:gs>
            </a:gsLst>
            <a:lin ang="77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4D4D"/>
                </a:solidFill>
                <a:latin typeface="微软雅黑"/>
                <a:ea typeface="微软雅黑"/>
              </a:rPr>
              <a:t>① 分层调度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5F5F5"/>
                </a:solidFill>
                <a:latin typeface="微软雅黑"/>
                <a:ea typeface="微软雅黑"/>
              </a:rPr>
              <a:t>0.6B兜唤醒/意图，1.7B跑主对话，省算力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4D4D"/>
                </a:solidFill>
                <a:latin typeface="微软雅黑"/>
                <a:ea typeface="微软雅黑"/>
              </a:rPr>
              <a:t>② INT4量化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5F5F5"/>
                </a:solidFill>
                <a:latin typeface="微软雅黑"/>
                <a:ea typeface="微软雅黑"/>
              </a:rPr>
              <a:t>地瓜工具链INT4，显存砍半、吞吐翻倍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06624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98064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4D4D"/>
                </a:solidFill>
                <a:latin typeface="微软雅黑"/>
                <a:ea typeface="微软雅黑"/>
              </a:rPr>
              <a:t>③ 端云协同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9544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5F5F5"/>
                </a:solidFill>
                <a:latin typeface="微软雅黑"/>
                <a:ea typeface="微软雅黑"/>
              </a:rPr>
              <a:t>难题异步上云，端侧只留实时/离线部分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06624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798064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4D4D"/>
                </a:solidFill>
                <a:latin typeface="微软雅黑"/>
                <a:ea typeface="微软雅黑"/>
              </a:rPr>
              <a:t>④ LoRA微调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9544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5F5F5"/>
                </a:solidFill>
                <a:latin typeface="微软雅黑"/>
                <a:ea typeface="微软雅黑"/>
              </a:rPr>
              <a:t>注入固定人设/口令，补小模型拟人短板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13048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04488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4D4D"/>
                </a:solidFill>
                <a:latin typeface="微软雅黑"/>
                <a:ea typeface="微软雅黑"/>
              </a:rPr>
              <a:t>⑤ 前缀KV缓存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15968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5F5F5"/>
                </a:solidFill>
                <a:latin typeface="微软雅黑"/>
                <a:ea typeface="微软雅黑"/>
              </a:rPr>
              <a:t>人设/工具放固定System前缀，首响-30~50%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13048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04488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4D4D"/>
                </a:solidFill>
                <a:latin typeface="微软雅黑"/>
                <a:ea typeface="微软雅黑"/>
              </a:rPr>
              <a:t>⑥ 限长+流式TTS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15968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5F5F5"/>
                </a:solidFill>
                <a:latin typeface="微软雅黑"/>
                <a:ea typeface="微软雅黑"/>
              </a:rPr>
              <a:t>边生成边出声，体感延迟大降，更像人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19472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10912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4D4D"/>
                </a:solidFill>
                <a:latin typeface="微软雅黑"/>
                <a:ea typeface="微软雅黑"/>
              </a:rPr>
              <a:t>⑦ 投机解码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22392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5F5F5"/>
                </a:solidFill>
                <a:latin typeface="微软雅黑"/>
                <a:ea typeface="微软雅黑"/>
              </a:rPr>
              <a:t>0.6B做draft给1.7B验证，解码+30~80%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919472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010912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4D4D"/>
                </a:solidFill>
                <a:latin typeface="微软雅黑"/>
                <a:ea typeface="微软雅黑"/>
              </a:rPr>
              <a:t>⑧ 升级S100P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422392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5F5F5"/>
                </a:solidFill>
                <a:latin typeface="微软雅黑"/>
                <a:ea typeface="微软雅黑"/>
              </a:rPr>
              <a:t>实在不够上128T/24GB，可实时跑4~7B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0E10"/>
              </a:gs>
              <a:gs pos="100000">
                <a:srgbClr val="1A0A0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4D4D"/>
                </a:solidFill>
                <a:latin typeface="微软雅黑"/>
                <a:ea typeface="微软雅黑"/>
              </a:rPr>
              <a:t>ROADMAP · 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5F5F5"/>
                </a:solidFill>
                <a:latin typeface="微软雅黑"/>
                <a:ea typeface="微软雅黑"/>
              </a:rPr>
              <a:t>落地 5 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255"/>
              </a:gs>
              <a:gs pos="100000">
                <a:srgbClr val="77"/>
              </a:gs>
            </a:gsLst>
            <a:lin ang="77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868680" cy="777240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>
            <a:gsLst>
              <a:gs pos="0">
                <a:srgbClr val="B91C1C"/>
              </a:gs>
              <a:gs pos="100000">
                <a:srgbClr val="FF7A4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1600200"/>
            <a:ext cx="9921240" cy="777240"/>
          </a:xfrm>
          <a:prstGeom prst="roundRect">
            <a:avLst>
              <a:gd name="adj" fmla="val 8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655064"/>
            <a:ext cx="246888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4D4D"/>
                </a:solidFill>
                <a:latin typeface="微软雅黑"/>
                <a:ea typeface="微软雅黑"/>
              </a:rPr>
              <a:t>跑通基线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55064"/>
            <a:ext cx="685800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5F5F5"/>
                </a:solidFill>
                <a:latin typeface="微软雅黑"/>
                <a:ea typeface="微软雅黑"/>
              </a:rPr>
              <a:t>在 RDK S100 上跑官方 Qwen3-1.7B DEMO 作基线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868680" cy="777240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>
            <a:gsLst>
              <a:gs pos="0">
                <a:srgbClr val="B91C1C"/>
              </a:gs>
              <a:gs pos="100000">
                <a:srgbClr val="FF7A4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86868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40" y="2514600"/>
            <a:ext cx="9921240" cy="777240"/>
          </a:xfrm>
          <a:prstGeom prst="roundRect">
            <a:avLst>
              <a:gd name="adj" fmla="val 8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569464"/>
            <a:ext cx="246888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4D4D"/>
                </a:solidFill>
                <a:latin typeface="微软雅黑"/>
                <a:ea typeface="微软雅黑"/>
              </a:rPr>
              <a:t>实测回填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9464"/>
            <a:ext cx="685800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5F5F5"/>
                </a:solidFill>
                <a:latin typeface="微软雅黑"/>
                <a:ea typeface="微软雅黑"/>
              </a:rPr>
              <a:t>用真实语料测延迟/吞吐/拟人盲评，回填本报告数据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29000"/>
            <a:ext cx="868680" cy="777240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>
            <a:gsLst>
              <a:gs pos="0">
                <a:srgbClr val="B91C1C"/>
              </a:gs>
              <a:gs pos="100000">
                <a:srgbClr val="FF7A4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86868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40" y="3429000"/>
            <a:ext cx="9921240" cy="777240"/>
          </a:xfrm>
          <a:prstGeom prst="roundRect">
            <a:avLst>
              <a:gd name="adj" fmla="val 8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3483864"/>
            <a:ext cx="246888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4D4D"/>
                </a:solidFill>
                <a:latin typeface="微软雅黑"/>
                <a:ea typeface="微软雅黑"/>
              </a:rPr>
              <a:t>量化提速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483864"/>
            <a:ext cx="685800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5F5F5"/>
                </a:solidFill>
                <a:latin typeface="微软雅黑"/>
                <a:ea typeface="微软雅黑"/>
              </a:rPr>
              <a:t>INT4 + 前缀缓存 + 限长流式TTS，首响压到 &lt;1s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43400"/>
            <a:ext cx="868680" cy="777240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>
            <a:gsLst>
              <a:gs pos="0">
                <a:srgbClr val="B91C1C"/>
              </a:gs>
              <a:gs pos="100000">
                <a:srgbClr val="FF7A4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86868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4343400"/>
            <a:ext cx="9921240" cy="777240"/>
          </a:xfrm>
          <a:prstGeom prst="roundRect">
            <a:avLst>
              <a:gd name="adj" fmla="val 8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4398264"/>
            <a:ext cx="246888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4D4D"/>
                </a:solidFill>
                <a:latin typeface="微软雅黑"/>
                <a:ea typeface="微软雅黑"/>
              </a:rPr>
              <a:t>接云端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98264"/>
            <a:ext cx="685800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5F5F5"/>
                </a:solidFill>
                <a:latin typeface="微软雅黑"/>
                <a:ea typeface="微软雅黑"/>
              </a:rPr>
              <a:t>按难度/时延/联网路由，端云协同对齐竞品质量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57800"/>
            <a:ext cx="868680" cy="777240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>
            <a:gsLst>
              <a:gs pos="0">
                <a:srgbClr val="B91C1C"/>
              </a:gs>
              <a:gs pos="100000">
                <a:srgbClr val="FF7A4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57800"/>
            <a:ext cx="86868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1640" y="5257800"/>
            <a:ext cx="9921240" cy="777240"/>
          </a:xfrm>
          <a:prstGeom prst="roundRect">
            <a:avLst>
              <a:gd name="adj" fmla="val 8000"/>
            </a:avLst>
          </a:prstGeom>
          <a:ln w="12700">
            <a:solidFill>
              <a:srgbClr val="3A2226"/>
            </a:solidFill>
          </a:ln>
          <a:effectLst/>
          <a:gradFill>
            <a:gsLst>
              <a:gs pos="0">
                <a:srgbClr val="28"/>
              </a:gs>
              <a:gs pos="100000">
                <a:srgbClr val="20"/>
              </a:gs>
            </a:gsLst>
            <a:lin ang="2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5312664"/>
            <a:ext cx="246888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4D4D"/>
                </a:solidFill>
                <a:latin typeface="微软雅黑"/>
                <a:ea typeface="微软雅黑"/>
              </a:rPr>
              <a:t>拟人微调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312664"/>
            <a:ext cx="685800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5F5F5"/>
                </a:solidFill>
                <a:latin typeface="微软雅黑"/>
                <a:ea typeface="微软雅黑"/>
              </a:rPr>
              <a:t>LoRA注入人设；强陪伴场景对比适配 Index-1.9B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C8E90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