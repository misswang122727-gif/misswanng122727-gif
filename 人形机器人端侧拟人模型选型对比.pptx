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8412480" y="-1463040"/>
            <a:ext cx="5486400" cy="54864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0E1E2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418320" y="2926080"/>
            <a:ext cx="4114800" cy="4114800"/>
          </a:xfrm>
          <a:prstGeom prst="ellipse">
            <a:avLst/>
          </a:prstGeom>
          <a:ln>
            <a:noFill/>
          </a:ln>
          <a:effectLst/>
          <a:gradFill>
            <a:gsLst>
              <a:gs pos="0">
                <a:srgbClr val="2DD4BF"/>
              </a:gs>
              <a:gs pos="100000">
                <a:srgbClr val="0E1E2E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731520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22D3EE"/>
                </a:solidFill>
                <a:latin typeface="微软雅黑"/>
                <a:ea typeface="微软雅黑"/>
              </a:rPr>
              <a:t>HUMANOID ROBOT · ON-DEVICE LLM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874519"/>
            <a:ext cx="9601200" cy="18288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F2F6FB"/>
                </a:solidFill>
                <a:latin typeface="微软雅黑"/>
                <a:ea typeface="微软雅黑"/>
              </a:rPr>
              <a:t>人形机器人端侧拟人模型选型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000" b="1">
                <a:solidFill>
                  <a:srgbClr val="22D3EE"/>
                </a:solidFill>
                <a:latin typeface="微软雅黑"/>
                <a:ea typeface="微软雅黑"/>
              </a:rPr>
              <a:t>竞品方案参考 + RDK S100 落地建议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" y="402336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251960"/>
            <a:ext cx="9601200" cy="10972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500" b="0">
                <a:solidFill>
                  <a:srgbClr val="C3D0E0"/>
                </a:solidFill>
                <a:latin typeface="微软雅黑"/>
                <a:ea typeface="微软雅黑"/>
              </a:rPr>
              <a:t>区分「动作大模型 vs 拟人对话模型」，对照宇树/智元/特斯拉/Figure 真实方案，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0">
                <a:solidFill>
                  <a:srgbClr val="C3D0E0"/>
                </a:solidFill>
                <a:latin typeface="微软雅黑"/>
                <a:ea typeface="微软雅黑"/>
              </a:rPr>
              <a:t>在地瓜 RDK S100（80 TOPS / 12GB）上选出最优落地路径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943600"/>
            <a:ext cx="10058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8A9DB2"/>
                </a:solidFill>
                <a:latin typeface="微软雅黑"/>
                <a:ea typeface="微软雅黑"/>
              </a:rPr>
              <a:t>2026-06　|　性能为参考估算，建议实机实测后回填；竞品信息据公开资料整理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KEY INSIGHT · 别选错对象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关键认知：机器人有「两个大脑」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4206240"/>
          </a:xfrm>
          <a:prstGeom prst="roundRect">
            <a:avLst>
              <a:gd name="adj" fmla="val 4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5440680" cy="10972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59"/>
              </a:gs>
              <a:gs pos="100000">
                <a:srgbClr val="130"/>
              </a:gs>
            </a:gsLst>
            <a:lin ang="246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874519"/>
            <a:ext cx="48463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3B82F6"/>
                </a:solidFill>
                <a:latin typeface="微软雅黑"/>
                <a:ea typeface="微软雅黑"/>
              </a:rPr>
              <a:t>🦾 具身操作大模型 (VLA)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2514600"/>
            <a:ext cx="4846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C3D0E0"/>
                </a:solidFill>
                <a:latin typeface="微软雅黑"/>
                <a:ea typeface="微软雅黑"/>
              </a:rPr>
              <a:t>管「怎么动手脚」——抓取/行走/装配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154680"/>
            <a:ext cx="4846320" cy="2377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代表：宇树 UnifoLM、智元 GO-1(ViLLA)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特斯拉端到端、Figure Helix、π0/RT-2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算力重，多跑在 GPU/云或独立运控单元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9632" y="1600200"/>
            <a:ext cx="5440680" cy="4206240"/>
          </a:xfrm>
          <a:prstGeom prst="roundRect">
            <a:avLst>
              <a:gd name="adj" fmla="val 4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199632" y="1600200"/>
            <a:ext cx="5440680" cy="109728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45"/>
              </a:gs>
              <a:gs pos="100000">
                <a:srgbClr val="212"/>
              </a:gs>
            </a:gsLst>
            <a:lin ang="19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19672" y="1874519"/>
            <a:ext cx="4846320" cy="5486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1">
                <a:solidFill>
                  <a:srgbClr val="2DD4BF"/>
                </a:solidFill>
                <a:latin typeface="微软雅黑"/>
                <a:ea typeface="微软雅黑"/>
              </a:rPr>
              <a:t>🗣 拟人对话大模型 (你要选的)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19672" y="2514600"/>
            <a:ext cx="484632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C3D0E0"/>
                </a:solidFill>
                <a:latin typeface="微软雅黑"/>
                <a:ea typeface="微软雅黑"/>
              </a:rPr>
              <a:t>管「怎么说话、像不像人」——对话/共情/人设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19672" y="3154680"/>
            <a:ext cx="4846320" cy="23774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代表：Qwen / 豆包 / GPT / Grok 等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厂商很少把它当卖点公开具体型号</a:t>
            </a:r>
          </a:p>
          <a:p>
            <a:pPr algn="l">
              <a:lnSpc>
                <a:spcPct val="105000"/>
              </a:lnSpc>
              <a:spcAft>
                <a:spcPts val="10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可端侧小模型，也常端云协同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943600"/>
            <a:ext cx="11064240" cy="457200"/>
          </a:xfrm>
          <a:prstGeom prst="roundRect">
            <a:avLst>
              <a:gd name="adj" fmla="val 30000"/>
            </a:avLst>
          </a:prstGeom>
          <a:ln w="12700">
            <a:solidFill>
              <a:srgbClr val="2DD4BF"/>
            </a:solidFill>
          </a:ln>
          <a:effectLst/>
          <a:gradFill>
            <a:gsLst>
              <a:gs pos="0">
                <a:srgbClr val="18"/>
              </a:gs>
              <a:gs pos="100000">
                <a:srgbClr val="62"/>
              </a:gs>
            </a:gsLst>
            <a:lin ang="64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5943600"/>
            <a:ext cx="10698480" cy="4572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1">
                <a:solidFill>
                  <a:srgbClr val="22D3EE"/>
                </a:solidFill>
                <a:latin typeface="微软雅黑"/>
                <a:ea typeface="微软雅黑"/>
              </a:rPr>
              <a:t>⚠ UnifoLM / GO-1 是动作模型，不要拿它们当「对话模型」对标——你的选型只看右边这一栏。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COMPETITOR MAP · 同行用什么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竞品方案对照（对话/拟人层）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70" cy="3968496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2423390"/>
                <a:gridCol w="1491317"/>
                <a:gridCol w="2050561"/>
                <a:gridCol w="3541878"/>
                <a:gridCol w="1584524"/>
              </a:tblGrid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厂商 / 产品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形态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动作模型(VLA)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对话/拟人模型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端侧/云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特斯拉 Optimus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自研端到端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Grok (xAI)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云·大模型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Figure 02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Helix(自研,原OpenAI)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原OpenAI→自研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云/边·大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宇树 Unitree G1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人形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UnifoLM(统一)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多模态语音+图像大模型(未公开型号)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Jetson Orin端侧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智元 远征 A2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商用人形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GO-1 (ViLLA)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语音对话/导览交互(未公开型号)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端+云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跃然 BubblePal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对话挂件(年销20万)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通用大模型(豆包/MiniMax/智谱)+垂类小模型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端云协同 ✓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珞博 Fuzozo / 萌友 Ropet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AI陪伴(月销2万+)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云大模型+情感垂类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端云协同 ✓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8932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8A9DB2"/>
                </a:solidFill>
                <a:latin typeface="微软雅黑"/>
                <a:ea typeface="微软雅黑"/>
              </a:rPr>
              <a:t>规律：顶级人形把「对话脑」交给大模型/云(Grok/OpenAI)；真正大规模落地拟人对话的陪伴硬件，走「端云协同+端侧小模型」。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THE PATTERN · 主流打法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行业真相：拟人对话 ≈ 端云协同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300" b="1">
                <a:solidFill>
                  <a:srgbClr val="F2F6FB"/>
                </a:solidFill>
                <a:latin typeface="微软雅黑"/>
                <a:ea typeface="微软雅黑"/>
              </a:rPr>
              <a:t>以年销 20 万台的 BubblePal 为例，两层结构：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057400"/>
            <a:ext cx="5577840" cy="1417320"/>
          </a:xfrm>
          <a:prstGeom prst="roundRect">
            <a:avLst>
              <a:gd name="adj" fmla="val 6000"/>
            </a:avLst>
          </a:prstGeom>
          <a:ln w="15875">
            <a:solidFill>
              <a:srgbClr val="22D3EE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2221992"/>
            <a:ext cx="5120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22D3EE"/>
                </a:solidFill>
                <a:latin typeface="微软雅黑"/>
                <a:ea typeface="微软雅黑"/>
              </a:rPr>
              <a:t>端侧 · 小模型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60904"/>
            <a:ext cx="5120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2F6FB"/>
                </a:solidFill>
                <a:latin typeface="微软雅黑"/>
                <a:ea typeface="微软雅黑"/>
              </a:rPr>
              <a:t>唤醒、意图、快闲聊、断网兜底、隐私敏感对话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81528"/>
            <a:ext cx="5120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DB2"/>
                </a:solidFill>
                <a:latin typeface="微软雅黑"/>
                <a:ea typeface="微软雅黑"/>
              </a:rPr>
              <a:t>低延迟 / 省算力 / 离线可用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749039"/>
            <a:ext cx="5577840" cy="1417320"/>
          </a:xfrm>
          <a:prstGeom prst="roundRect">
            <a:avLst>
              <a:gd name="adj" fmla="val 6000"/>
            </a:avLst>
          </a:prstGeom>
          <a:ln w="15875">
            <a:solidFill>
              <a:srgbClr val="3B82F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913631"/>
            <a:ext cx="512064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3B82F6"/>
                </a:solidFill>
                <a:latin typeface="微软雅黑"/>
                <a:ea typeface="微软雅黑"/>
              </a:rPr>
              <a:t>云端 · 大模型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352543"/>
            <a:ext cx="51206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2F6FB"/>
                </a:solidFill>
                <a:latin typeface="微软雅黑"/>
                <a:ea typeface="微软雅黑"/>
              </a:rPr>
              <a:t>复杂问答、深度共情、长程人设、知识更新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773167"/>
            <a:ext cx="512064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>
                <a:solidFill>
                  <a:srgbClr val="8A9DB2"/>
                </a:solidFill>
                <a:latin typeface="微软雅黑"/>
                <a:ea typeface="微软雅黑"/>
              </a:rPr>
              <a:t>高质量 / 不占端侧算力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349240"/>
            <a:ext cx="5669280" cy="1005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300"/>
              </a:spcAft>
            </a:pPr>
            <a:r>
              <a:rPr sz="1200" b="0">
                <a:solidFill>
                  <a:srgbClr val="C3D0E0"/>
                </a:solidFill>
                <a:latin typeface="微软雅黑"/>
                <a:ea typeface="微软雅黑"/>
              </a:rPr>
              <a:t>⇅ 路由器按「难度/时延/是否联网」动态分流，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3D0E0"/>
                </a:solidFill>
                <a:latin typeface="微软雅黑"/>
                <a:ea typeface="微软雅黑"/>
              </a:rPr>
              <a:t>端侧先出声(流式TTS)，云端结果到了再续——体感最像人。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554480"/>
            <a:ext cx="5212080" cy="4480560"/>
          </a:xfrm>
          <a:prstGeom prst="roundRect">
            <a:avLst>
              <a:gd name="adj" fmla="val 4000"/>
            </a:avLst>
          </a:prstGeom>
          <a:ln w="15875">
            <a:solidFill>
              <a:srgbClr val="2DD4BF"/>
            </a:solidFill>
          </a:ln>
          <a:effectLst/>
          <a:gradFill>
            <a:gsLst>
              <a:gs pos="0">
                <a:srgbClr val="1B3A57"/>
              </a:gs>
              <a:gs pos="100000">
                <a:srgbClr val="162E47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720840" y="1828800"/>
            <a:ext cx="46634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1">
                <a:solidFill>
                  <a:srgbClr val="2DD4BF"/>
                </a:solidFill>
                <a:latin typeface="微软雅黑"/>
                <a:ea typeface="微软雅黑"/>
              </a:rPr>
              <a:t>💡 对你的意义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20840" y="2468880"/>
            <a:ext cx="4663440" cy="32918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纯端侧 1.7B 单挑，拟人质量难追平竞品的「云端大模型」体验；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对标竞品 = 端侧 Qwen 小模型 + 云端大模型兜底；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RDK S100 算力够，端侧可上 Qwen3-1.7B→4B 提质；</a:t>
            </a:r>
          </a:p>
          <a:p>
            <a:pPr algn="l">
              <a:lnSpc>
                <a:spcPct val="105000"/>
              </a:lnSpc>
              <a:spcAft>
                <a:spcPts val="1600"/>
              </a:spcAft>
            </a:pPr>
            <a:r>
              <a:rPr sz="1300" b="0">
                <a:solidFill>
                  <a:srgbClr val="F2F6FB"/>
                </a:solidFill>
                <a:latin typeface="微软雅黑"/>
                <a:ea typeface="微软雅黑"/>
              </a:rPr>
              <a:t>• 断网/隐私/低延迟场景，端侧小模型是刚需，不可省。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STRAIGHT ANSWER · 诚实回答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「1.7B 同行谁用过？」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64240" cy="914400"/>
          </a:xfrm>
          <a:prstGeom prst="roundRect">
            <a:avLst>
              <a:gd name="adj" fmla="val 4000"/>
            </a:avLst>
          </a:prstGeom>
          <a:ln w="15875">
            <a:solidFill>
              <a:srgbClr val="FBBF24"/>
            </a:solidFill>
          </a:ln>
          <a:effectLst/>
          <a:gradFill>
            <a:gsLst>
              <a:gs pos="0">
                <a:srgbClr val="58"/>
              </a:gs>
              <a:gs pos="100000">
                <a:srgbClr val="42"/>
              </a:gs>
            </a:gsLst>
            <a:lin ang="1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BBF24"/>
                </a:solidFill>
                <a:latin typeface="微软雅黑"/>
                <a:ea typeface="微软雅黑"/>
              </a:rPr>
              <a:t>没有人形机器人厂商公开说过「端侧跑 Qwen-1.7B 做对话」——端侧精确参数量行业基本不披露。所以我不编。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97480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825496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✅ 但选 Qwen 家族 = 走在行业主线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46120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2F6FB"/>
                </a:solidFill>
                <a:latin typeface="微软雅黑"/>
                <a:ea typeface="微软雅黑"/>
              </a:rPr>
              <a:t>Qwen 是国内具身/智能硬件事实基座：智元、星海图、连阿里自己下场做具身都用 Qwen；选 Qwen 与全行业同源。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858768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986784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✅ 1.5~3B 端侧小模型已被陪伴硬件验证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407408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2F6FB"/>
                </a:solidFill>
                <a:latin typeface="微软雅黑"/>
                <a:ea typeface="微软雅黑"/>
              </a:rPr>
              <a:t>BubblePal/Fuzozo/Ropet 等量产陪伴硬件，端侧就是这一档小模型做意图/快闲聊，可靠性已被市场验证。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020056"/>
            <a:ext cx="11064240" cy="1051560"/>
          </a:xfrm>
          <a:prstGeom prst="roundRect">
            <a:avLst>
              <a:gd name="adj" fmla="val 5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5148072"/>
            <a:ext cx="1042416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>
                <a:solidFill>
                  <a:srgbClr val="22D3EE"/>
                </a:solidFill>
                <a:latin typeface="微软雅黑"/>
                <a:ea typeface="微软雅黑"/>
              </a:rPr>
              <a:t>⚠ 1.7B 是「RDK S100 纯端侧的合理起点」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568696"/>
            <a:ext cx="1042416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50" b="0">
                <a:solidFill>
                  <a:srgbClr val="F2F6FB"/>
                </a:solidFill>
                <a:latin typeface="微软雅黑"/>
                <a:ea typeface="微软雅黑"/>
              </a:rPr>
              <a:t>不是别人验证过的爆款配置，而是算力约束下的理性选择；要更高拟人质量就配云端或上 4B。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YOUR PLATFORM · 你的平台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地瓜 RDK S100（80 TOPS / 12GB）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BPU 算力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微软雅黑"/>
                <a:ea typeface="微软雅黑"/>
              </a:rPr>
              <a:t>80 TOPS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3D0E0"/>
                </a:solidFill>
                <a:latin typeface="微软雅黑"/>
                <a:ea typeface="微软雅黑"/>
              </a:rPr>
              <a:t>Nash·Transformer优化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CPU 大脑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微软雅黑"/>
                <a:ea typeface="微软雅黑"/>
              </a:rPr>
              <a:t>6×A78AE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3D0E0"/>
                </a:solidFill>
                <a:latin typeface="微软雅黑"/>
                <a:ea typeface="微软雅黑"/>
              </a:rPr>
              <a:t>100K DMIPS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00200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75320" y="1709928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MCU 小脑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5320" y="2039112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微软雅黑"/>
                <a:ea typeface="微软雅黑"/>
              </a:rPr>
              <a:t>4×R52+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255117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3D0E0"/>
                </a:solidFill>
                <a:latin typeface="微软雅黑"/>
                <a:ea typeface="微软雅黑"/>
              </a:rPr>
              <a:t>关节实时运控(独立)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运行内存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微软雅黑"/>
                <a:ea typeface="微软雅黑"/>
              </a:rPr>
              <a:t>12 GB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3D0E0"/>
                </a:solidFill>
                <a:latin typeface="微软雅黑"/>
                <a:ea typeface="微软雅黑"/>
              </a:rPr>
              <a:t>可载 7B-INT4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9768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2628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参考价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微软雅黑"/>
                <a:ea typeface="微软雅黑"/>
              </a:rPr>
              <a:t>¥2499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3D0E0"/>
                </a:solidFill>
                <a:latin typeface="微软雅黑"/>
                <a:ea typeface="微软雅黑"/>
              </a:rPr>
              <a:t>S100P:128T/24GB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3172968"/>
            <a:ext cx="3566160" cy="137160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75320" y="3282696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8A9DB2"/>
                </a:solidFill>
                <a:latin typeface="微软雅黑"/>
                <a:ea typeface="微软雅黑"/>
              </a:rPr>
              <a:t>官方适配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75320" y="3611880"/>
            <a:ext cx="3200400" cy="50292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22D3EE"/>
                </a:solidFill>
                <a:latin typeface="微软雅黑"/>
                <a:ea typeface="微软雅黑"/>
              </a:rPr>
              <a:t>Qwen3 DEMO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123944"/>
            <a:ext cx="32004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C3D0E0"/>
                </a:solidFill>
                <a:latin typeface="微软雅黑"/>
                <a:ea typeface="微软雅黑"/>
              </a:rPr>
              <a:t>ModelZoo 已提供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" y="5532120"/>
            <a:ext cx="11064240" cy="822960"/>
          </a:xfrm>
          <a:prstGeom prst="roundRect">
            <a:avLst>
              <a:gd name="adj" fmla="val 4000"/>
            </a:avLst>
          </a:prstGeom>
          <a:ln w="12700">
            <a:solidFill>
              <a:srgbClr val="2DD4BF"/>
            </a:solidFill>
          </a:ln>
          <a:effectLst/>
          <a:gradFill>
            <a:gsLst>
              <a:gs pos="0">
                <a:srgbClr val="18"/>
              </a:gs>
              <a:gs pos="100000">
                <a:srgbClr val="62"/>
              </a:gs>
            </a:gsLst>
            <a:lin ang="64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5532120"/>
            <a:ext cx="10607040" cy="82296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F2F6FB"/>
                </a:solidFill>
                <a:latin typeface="微软雅黑"/>
                <a:ea typeface="微软雅黑"/>
              </a:rPr>
              <a:t>⚠ BPU 非 GPU：模型必须经地瓜工具链编译+INT8/INT4量化，优先选官方 ModelZoo 已适配的 Qwen3；运控由独立 MCU 承担，BPU 可专注大模型。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CANDIDATES · 候选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端侧候选小模型（含适配度）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69" cy="40233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963127"/>
                <a:gridCol w="981563"/>
                <a:gridCol w="1276033"/>
                <a:gridCol w="1079720"/>
                <a:gridCol w="1079720"/>
                <a:gridCol w="1079720"/>
                <a:gridCol w="1079720"/>
                <a:gridCol w="2552066"/>
              </a:tblGrid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参数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INT4显存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中文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拟人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指令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工具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RDK S100适配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Qwen3-0.6B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0.6B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~0.5GB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✓ 官方·兜底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1.7B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~1.3GB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✓ 官方·首选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Qwen2.5-3B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3B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~2.1GB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✓ 易适配·更稳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Qwen3-4B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4B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~2.7GB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✓ 官方·提质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Index-1.9B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1.9B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~1.3GB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△ 需适配·拟人强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MiniCPM3-4B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4B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~2.6GB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△ 需适配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Qwen2.5-7B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7B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~4.3GB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★★★★★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✓ 偏重·质量顶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8A9DB2"/>
                </a:solidFill>
                <a:latin typeface="微软雅黑"/>
                <a:ea typeface="微软雅黑"/>
              </a:rPr>
              <a:t>「拟人」=人格/口吻一致度；适配：✓ 官方ModelZoo已有 / △ 需自行工具链转换。算力有限优先 ✓ 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SCORING · 加权评分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综合评分与排名（满分10）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554480"/>
          <a:ext cx="11091668" cy="384048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1864971"/>
                <a:gridCol w="1079720"/>
                <a:gridCol w="1079720"/>
                <a:gridCol w="1079720"/>
                <a:gridCol w="1079720"/>
                <a:gridCol w="981563"/>
                <a:gridCol w="1177876"/>
                <a:gridCol w="2748378"/>
              </a:tblGrid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模型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速度30%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拟人25%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准确20%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资源15%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中文10%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加权总分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结论</a:t>
                      </a:r>
                    </a:p>
                  </a:txBody>
                  <a:tcPr marL="45720" marR="45720" marT="18288" marB="18288" anchor="ctr">
                    <a:solidFill>
                      <a:srgbClr val="103A57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Qwen3-1.7B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7.0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7.93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🥇 纯端侧首选(官方)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Index-1.9B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7.93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22D3EE"/>
                          </a:solidFill>
                          <a:latin typeface="微软雅黑"/>
                          <a:ea typeface="微软雅黑"/>
                        </a:rPr>
                        <a:t>🏅 强拟人陪伴(需适配)</a:t>
                      </a:r>
                    </a:p>
                  </a:txBody>
                  <a:tcPr marL="45720" marR="45720" marT="9144" marB="9144" anchor="ctr">
                    <a:solidFill>
                      <a:srgbClr val="123E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Qwen2.5-3B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7.5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7.85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🥈 质量更稳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Qwen3-4B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6.5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7.63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提质·建议配云/S100P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Qwen3-0.6B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4.0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10.0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8.0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7.10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唤醒/意图兜底</a:t>
                      </a:r>
                    </a:p>
                  </a:txBody>
                  <a:tcPr marL="45720" marR="45720" marT="9144" marB="9144" anchor="ctr">
                    <a:solidFill>
                      <a:srgbClr val="19334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Qwen2.5-7B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8.5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5.0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9.0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7.10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C3D0E0"/>
                          </a:solidFill>
                          <a:latin typeface="微软雅黑"/>
                          <a:ea typeface="微软雅黑"/>
                        </a:rPr>
                        <a:t>质量顶·S100吃力</a:t>
                      </a:r>
                    </a:p>
                  </a:txBody>
                  <a:tcPr marL="45720" marR="45720" marT="9144" marB="9144" anchor="ctr">
                    <a:solidFill>
                      <a:srgbClr val="152B40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943600"/>
            <a:ext cx="11064240" cy="45720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0">
                <a:solidFill>
                  <a:srgbClr val="8A9DB2"/>
                </a:solidFill>
                <a:latin typeface="微软雅黑"/>
                <a:ea typeface="微软雅黑"/>
              </a:rPr>
              <a:t>权重：速度30%&gt;拟人25%&gt;准确20%&gt;资源15%&gt;中文10%，可按电池/实时性预算调整；评分为相对估算，建议盲测回填。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RECOMMENDATION · 推荐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落地方案：端云协同（对标竞品）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22D3EE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645920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端侧·主对话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83280" y="1645920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6FB"/>
                </a:solidFill>
                <a:latin typeface="微软雅黑"/>
                <a:ea typeface="微软雅黑"/>
              </a:rPr>
              <a:t>Qwen3-1.7B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645920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3D0E0"/>
                </a:solidFill>
                <a:latin typeface="微软雅黑"/>
                <a:ea typeface="微软雅黑"/>
              </a:rPr>
              <a:t>官方已适配，&lt;0.6s首响，快闲聊/意图/断网兜底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679192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3B82F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48640" y="2679192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59"/>
              </a:gs>
              <a:gs pos="100000">
                <a:srgbClr val="130"/>
              </a:gs>
            </a:gsLst>
            <a:lin ang="246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2724912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3B82F6"/>
                </a:solidFill>
                <a:latin typeface="微软雅黑"/>
                <a:ea typeface="微软雅黑"/>
              </a:rPr>
              <a:t>端侧·唤醒兜底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724912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6FB"/>
                </a:solidFill>
                <a:latin typeface="微软雅黑"/>
                <a:ea typeface="微软雅黑"/>
              </a:rPr>
              <a:t>Qwen3-0.6B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24912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3D0E0"/>
                </a:solidFill>
                <a:latin typeface="微软雅黑"/>
                <a:ea typeface="微软雅黑"/>
              </a:rPr>
              <a:t>极快路由，与主模型分层，省电省算力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58184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2DD4BF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48640" y="3758184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45"/>
              </a:gs>
              <a:gs pos="100000">
                <a:srgbClr val="212"/>
              </a:gs>
            </a:gsLst>
            <a:lin ang="19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803904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DD4BF"/>
                </a:solidFill>
                <a:latin typeface="微软雅黑"/>
                <a:ea typeface="微软雅黑"/>
              </a:rPr>
              <a:t>云端·高质量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3803904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6FB"/>
                </a:solidFill>
                <a:latin typeface="微软雅黑"/>
                <a:ea typeface="微软雅黑"/>
              </a:rPr>
              <a:t>通义/豆包/自研大模型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803904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3D0E0"/>
                </a:solidFill>
                <a:latin typeface="微软雅黑"/>
                <a:ea typeface="微软雅黑"/>
              </a:rPr>
              <a:t>复杂问答、深度共情、长程人设交给云端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4837176"/>
            <a:ext cx="11064240" cy="960120"/>
          </a:xfrm>
          <a:prstGeom prst="roundRect">
            <a:avLst>
              <a:gd name="adj" fmla="val 6000"/>
            </a:avLst>
          </a:prstGeom>
          <a:ln w="15875">
            <a:solidFill>
              <a:srgbClr val="F472B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4837176"/>
            <a:ext cx="118872" cy="960120"/>
          </a:xfrm>
          <a:prstGeom prst="roundRect">
            <a:avLst>
              <a:gd name="adj" fmla="val 50000"/>
            </a:avLst>
          </a:prstGeom>
          <a:ln>
            <a:noFill/>
          </a:ln>
          <a:effectLst/>
          <a:gradFill>
            <a:gsLst>
              <a:gs pos="0">
                <a:srgbClr val="244"/>
              </a:gs>
              <a:gs pos="100000">
                <a:srgbClr val="114"/>
              </a:gs>
            </a:gsLst>
            <a:lin ang="182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8680" y="4882896"/>
            <a:ext cx="246888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F472B6"/>
                </a:solidFill>
                <a:latin typeface="微软雅黑"/>
                <a:ea typeface="微软雅黑"/>
              </a:rPr>
              <a:t>强拟人陪伴(可选)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4882896"/>
            <a:ext cx="2834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1">
                <a:solidFill>
                  <a:srgbClr val="F2F6FB"/>
                </a:solidFill>
                <a:latin typeface="微软雅黑"/>
                <a:ea typeface="微软雅黑"/>
              </a:rPr>
              <a:t>Index-1.9B / LoRA微调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882896"/>
            <a:ext cx="5120640" cy="86868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C3D0E0"/>
                </a:solidFill>
                <a:latin typeface="微软雅黑"/>
                <a:ea typeface="微软雅黑"/>
              </a:rPr>
              <a:t>角色一致性专精；小模型靠微调补拟人短板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09728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1">
                <a:solidFill>
                  <a:srgbClr val="22D3EE"/>
                </a:solidFill>
                <a:latin typeface="微软雅黑"/>
                <a:ea typeface="微软雅黑"/>
              </a:rPr>
              <a:t>一句话：端侧 Qwen3-1.7B 兜住实时与离线，云端大模型兜住质量——这正是 BubblePal 等量产产品验证过的结构。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WHEN COMPUTE IS TIGHT · 破局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算力不够，怎么办？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① 分层调度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103120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0.6B兜唤醒/意图，1.7B跑主对话，省算力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600200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691640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② INT4量化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03120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地瓜工具链INT4，显存砍半、吞吐翻倍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706624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798064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③ 端云协同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3209544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难题异步上云，端侧只留实时/离线部分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706624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798064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④ LoRA微调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209544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注入固定人设/口令，补小模型拟人短板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813048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904488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⑤ 前缀KV缓存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4315968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人设/工具放固定System前缀，首响-30~50%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3813048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04488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⑥ 限长+流式TTS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4315968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边生成边出声，体感延迟大降，更像人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4919472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010912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⑦ 投机解码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422392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0.6B做draft给1.7B验证，解码+30~80%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72200" y="4919472"/>
            <a:ext cx="5440680" cy="960120"/>
          </a:xfrm>
          <a:prstGeom prst="roundRect">
            <a:avLst>
              <a:gd name="adj" fmla="val 6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5010912"/>
            <a:ext cx="5029200" cy="36576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⑧ 升级S100P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5422392"/>
            <a:ext cx="5029200" cy="4114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>
                <a:solidFill>
                  <a:srgbClr val="F2F6FB"/>
                </a:solidFill>
                <a:latin typeface="微软雅黑"/>
                <a:ea typeface="微软雅黑"/>
              </a:rPr>
              <a:t>实在不够上128T/24GB，可实时跑4~7B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0E1E2E"/>
              </a:gs>
              <a:gs pos="100000">
                <a:srgbClr val="0A1622"/>
              </a:gs>
            </a:gsLst>
            <a:lin ang="54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0584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1">
                <a:solidFill>
                  <a:srgbClr val="22D3EE"/>
                </a:solidFill>
                <a:latin typeface="微软雅黑"/>
                <a:ea typeface="微软雅黑"/>
              </a:rPr>
              <a:t>ROADMAP · 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713232"/>
            <a:ext cx="10972800" cy="64008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700" b="1">
                <a:solidFill>
                  <a:srgbClr val="F2F6FB"/>
                </a:solidFill>
                <a:latin typeface="微软雅黑"/>
                <a:ea typeface="微软雅黑"/>
              </a:rPr>
              <a:t>落地 5 步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71600"/>
            <a:ext cx="640080" cy="64008"/>
          </a:xfrm>
          <a:prstGeom prst="rect">
            <a:avLst/>
          </a:prstGeom>
          <a:ln>
            <a:noFill/>
          </a:ln>
          <a:effectLst/>
          <a:gradFill>
            <a:gsLst>
              <a:gs pos="0">
                <a:srgbClr val="34"/>
              </a:gs>
              <a:gs pos="100000">
                <a:srgbClr val="211"/>
              </a:gs>
            </a:gsLst>
            <a:lin ang="238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6002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2DD4B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91640" y="16002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965960" y="16550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跑通基线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6550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2F6FB"/>
                </a:solidFill>
                <a:latin typeface="微软雅黑"/>
                <a:ea typeface="微软雅黑"/>
              </a:rPr>
              <a:t>在 RDK S100 上跑官方 Qwen3-1.7B DEMO 作基线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25146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2DD4B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146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691640" y="25146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65960" y="25694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实测回填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5694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2F6FB"/>
                </a:solidFill>
                <a:latin typeface="微软雅黑"/>
                <a:ea typeface="微软雅黑"/>
              </a:rPr>
              <a:t>用真实语料测延迟/吞吐/拟人盲评，回填本报告数据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4290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2DD4B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290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691640" y="34290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965960" y="34838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量化提速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4838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2F6FB"/>
                </a:solidFill>
                <a:latin typeface="微软雅黑"/>
                <a:ea typeface="微软雅黑"/>
              </a:rPr>
              <a:t>INT4 + 前缀缓存 + 限长流式TTS，首响压到 &lt;1s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3434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2DD4B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91640" y="43434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965960" y="43982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接云端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43982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2F6FB"/>
                </a:solidFill>
                <a:latin typeface="微软雅黑"/>
                <a:ea typeface="微软雅黑"/>
              </a:rPr>
              <a:t>按难度/时延/联网路由，端云协同对齐竞品质量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5257800"/>
            <a:ext cx="868680" cy="777240"/>
          </a:xfrm>
          <a:prstGeom prst="roundRect">
            <a:avLst>
              <a:gd name="adj" fmla="val 20000"/>
            </a:avLst>
          </a:prstGeom>
          <a:ln>
            <a:noFill/>
          </a:ln>
          <a:effectLst/>
          <a:gradFill>
            <a:gsLst>
              <a:gs pos="0">
                <a:srgbClr val="3B82F6"/>
              </a:gs>
              <a:gs pos="100000">
                <a:srgbClr val="2DD4BF"/>
              </a:gs>
            </a:gsLst>
            <a:lin ang="2700000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5257800"/>
            <a:ext cx="868680" cy="777240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ctr">
              <a:lnSpc>
                <a:spcPct val="105000"/>
              </a:lnSpc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微软雅黑"/>
                <a:ea typeface="微软雅黑"/>
              </a:rPr>
              <a:t>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91640" y="5257800"/>
            <a:ext cx="9921240" cy="777240"/>
          </a:xfrm>
          <a:prstGeom prst="roundRect">
            <a:avLst>
              <a:gd name="adj" fmla="val 8000"/>
            </a:avLst>
          </a:prstGeom>
          <a:ln w="12700">
            <a:solidFill>
              <a:srgbClr val="2A4766"/>
            </a:solidFill>
          </a:ln>
          <a:effectLst/>
          <a:gradFill>
            <a:gsLst>
              <a:gs pos="0">
                <a:srgbClr val="22"/>
              </a:gs>
              <a:gs pos="100000">
                <a:srgbClr val="46"/>
              </a:gs>
            </a:gsLst>
            <a:lin ang="71" scaled="1"/>
          </a:gra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965960" y="5312664"/>
            <a:ext cx="246888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400" b="1">
                <a:solidFill>
                  <a:srgbClr val="22D3EE"/>
                </a:solidFill>
                <a:latin typeface="微软雅黑"/>
                <a:ea typeface="微软雅黑"/>
              </a:rPr>
              <a:t>拟人微调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5312664"/>
            <a:ext cx="6858000" cy="667512"/>
          </a:xfrm>
          <a:prstGeom prst="rect">
            <a:avLst/>
          </a:prstGeom>
          <a:noFill/>
        </p:spPr>
        <p:txBody>
          <a:bodyPr wrap="square" anchor="ctr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>
                <a:solidFill>
                  <a:srgbClr val="F2F6FB"/>
                </a:solidFill>
                <a:latin typeface="微软雅黑"/>
                <a:ea typeface="微软雅黑"/>
              </a:rPr>
              <a:t>LoRA注入人设；强陪伴场景对比适配 Index-1.9B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55664"/>
            <a:ext cx="822960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端侧拟人模型选型 · 竞品参考 · 地瓜 RDK S100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064240" y="6455664"/>
            <a:ext cx="640080" cy="320040"/>
          </a:xfrm>
          <a:prstGeom prst="rect">
            <a:avLst/>
          </a:prstGeom>
          <a:noFill/>
        </p:spPr>
        <p:txBody>
          <a:bodyPr wrap="square" anchor="t" lIns="27432" rIns="27432" tIns="27432" bIns="27432">
            <a:spAutoFit/>
          </a:bodyPr>
          <a:lstStyle/>
          <a:p>
            <a:pPr algn="r">
              <a:lnSpc>
                <a:spcPct val="105000"/>
              </a:lnSpc>
              <a:spcAft>
                <a:spcPts val="0"/>
              </a:spcAft>
            </a:pPr>
            <a:r>
              <a:rPr sz="900" b="0">
                <a:solidFill>
                  <a:srgbClr val="8A9DB2"/>
                </a:solidFill>
                <a:latin typeface="微软雅黑"/>
                <a:ea typeface="微软雅黑"/>
              </a:rP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