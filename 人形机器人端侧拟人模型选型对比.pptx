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06240"/>
            <a:ext cx="12191695" cy="7315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1463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微软雅黑"/>
                <a:ea typeface="微软雅黑"/>
              </a:rPr>
              <a:t>人形机器人端侧拟人模型选型对比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103327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000" b="0" i="0">
                <a:solidFill>
                  <a:srgbClr val="D6E4F0"/>
                </a:solidFill>
                <a:latin typeface="微软雅黑"/>
                <a:ea typeface="微软雅黑"/>
              </a:rPr>
              <a:t>目标平台：地瓜机器人 RDK S100（80 TOPS BPU / 12GB）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3272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微软雅黑"/>
                <a:ea typeface="微软雅黑"/>
              </a:rPr>
              <a:t>在有限端侧算力下，选出「响应快 · 资源省 · 回答准 · 够拟人」的小模型</a:t>
            </a:r>
          </a:p>
          <a:p>
            <a:pPr algn="ctr">
              <a:spcAft>
                <a:spcPts val="800"/>
              </a:spcAft>
            </a:pPr>
            <a:r>
              <a:rPr sz="1100" b="0" i="0">
                <a:solidFill>
                  <a:srgbClr val="D6E4F0"/>
                </a:solidFill>
                <a:latin typeface="微软雅黑"/>
                <a:ea typeface="微软雅黑"/>
              </a:rPr>
              <a:t>2026-06   |   性能数据为参考估算，建议实机实测后回填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评测目标与核心约束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109728"/>
            <a:ext cx="1280160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500" b="1" i="0">
                <a:solidFill>
                  <a:srgbClr val="D6E4F0"/>
                </a:solidFill>
                <a:latin typeface="微软雅黑"/>
                <a:ea typeface="微软雅黑"/>
              </a:rPr>
              <a:t>导读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25880"/>
            <a:ext cx="5486400" cy="2331720"/>
          </a:xfrm>
          <a:prstGeom prst="rect">
            <a:avLst/>
          </a:prstGeom>
          <a:solidFill>
            <a:srgbClr val="EEF3FA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25880"/>
            <a:ext cx="109728" cy="23317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554480"/>
            <a:ext cx="50292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 i="0">
                <a:solidFill>
                  <a:srgbClr val="1F4E79"/>
                </a:solidFill>
                <a:latin typeface="微软雅黑"/>
                <a:ea typeface="微软雅黑"/>
              </a:rPr>
              <a:t>🎯 要解决的问题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40280"/>
            <a:ext cx="5029200" cy="12344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50" b="0" i="0">
                <a:solidFill>
                  <a:srgbClr val="222222"/>
                </a:solidFill>
                <a:latin typeface="微软雅黑"/>
                <a:ea typeface="微软雅黑"/>
              </a:rPr>
              <a:t>在 RDK S100 这块端侧算力有限的板子上，跑一个又快又像人的对话小模型，而不是堆参数。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53912" y="1325880"/>
            <a:ext cx="5486400" cy="2331720"/>
          </a:xfrm>
          <a:prstGeom prst="rect">
            <a:avLst/>
          </a:prstGeom>
          <a:solidFill>
            <a:srgbClr val="EEF3FA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53912" y="1325880"/>
            <a:ext cx="109728" cy="23317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554480"/>
            <a:ext cx="50292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 i="0">
                <a:solidFill>
                  <a:srgbClr val="1F4E79"/>
                </a:solidFill>
                <a:latin typeface="微软雅黑"/>
                <a:ea typeface="微软雅黑"/>
              </a:rPr>
              <a:t>📏 4个核心指标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8232" y="2240280"/>
            <a:ext cx="5029200" cy="12344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50" b="0" i="0">
                <a:solidFill>
                  <a:srgbClr val="222222"/>
                </a:solidFill>
                <a:latin typeface="微软雅黑"/>
                <a:ea typeface="微软雅黑"/>
              </a:rPr>
              <a:t>① 响应速度/首字延迟  ② 推理吞吐(tok/s)  ③ 内存/功耗占用  ④ 回答准确度 &amp; 拟人度。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840480"/>
            <a:ext cx="5486400" cy="2331720"/>
          </a:xfrm>
          <a:prstGeom prst="rect">
            <a:avLst/>
          </a:prstGeom>
          <a:solidFill>
            <a:srgbClr val="EEF3FA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840480"/>
            <a:ext cx="109728" cy="23317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069080"/>
            <a:ext cx="50292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 i="0">
                <a:solidFill>
                  <a:srgbClr val="1F4E79"/>
                </a:solidFill>
                <a:latin typeface="微软雅黑"/>
                <a:ea typeface="微软雅黑"/>
              </a:rPr>
              <a:t>⚠ 端侧硬约束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754880"/>
            <a:ext cx="5029200" cy="12344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50" b="0" i="0">
                <a:solidFill>
                  <a:srgbClr val="222222"/>
                </a:solidFill>
                <a:latin typeface="微软雅黑"/>
                <a:ea typeface="微软雅黑"/>
              </a:rPr>
              <a:t>RDK S100 是 BPU 不是 GPU，模型必须经地瓜工具链编译+量化；优先选官方已适配的模型。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53912" y="3840480"/>
            <a:ext cx="5486400" cy="2331720"/>
          </a:xfrm>
          <a:prstGeom prst="rect">
            <a:avLst/>
          </a:prstGeom>
          <a:solidFill>
            <a:srgbClr val="EEF3FA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3912" y="3840480"/>
            <a:ext cx="109728" cy="23317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4069080"/>
            <a:ext cx="50292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 i="0">
                <a:solidFill>
                  <a:srgbClr val="1F4E79"/>
                </a:solidFill>
                <a:latin typeface="微软雅黑"/>
                <a:ea typeface="微软雅黑"/>
              </a:rPr>
              <a:t>✅ 结论先行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754880"/>
            <a:ext cx="5029200" cy="12344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50" b="0" i="0">
                <a:solidFill>
                  <a:srgbClr val="222222"/>
                </a:solidFill>
                <a:latin typeface="微软雅黑"/>
                <a:ea typeface="微软雅黑"/>
              </a:rPr>
              <a:t>主对话用 Qwen3-1.7B(官方已适配)起步；0.6B 做唤醒兜底；算力不够走端云协同或升级 S100P。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微软雅黑"/>
                <a:ea typeface="微软雅黑"/>
              </a:rPr>
              <a:t>人形机器人端侧拟人模型选型 · 地瓜 RDK S100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808080"/>
                </a:solidFill>
                <a:latin typeface="微软雅黑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你的平台：地瓜 RDK S100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109728"/>
            <a:ext cx="1280160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500" b="1" i="0">
                <a:solidFill>
                  <a:srgbClr val="D6E4F0"/>
                </a:solidFill>
                <a:latin typeface="微软雅黑"/>
                <a:ea typeface="微软雅黑"/>
              </a:rPr>
              <a:t>平台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80160"/>
            <a:ext cx="3611880" cy="1417320"/>
          </a:xfrm>
          <a:prstGeom prst="rect">
            <a:avLst/>
          </a:prstGeom>
          <a:solidFill>
            <a:srgbClr val="FFFFFF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89888"/>
            <a:ext cx="32461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808080"/>
                </a:solidFill>
                <a:latin typeface="微软雅黑"/>
                <a:ea typeface="微软雅黑"/>
              </a:rPr>
              <a:t>BPU 算力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3246120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1" i="0">
                <a:solidFill>
                  <a:srgbClr val="1F4E79"/>
                </a:solidFill>
                <a:latin typeface="微软雅黑"/>
                <a:ea typeface="微软雅黑"/>
              </a:rPr>
              <a:t>80 TOPS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67712"/>
            <a:ext cx="32461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微软雅黑"/>
                <a:ea typeface="微软雅黑"/>
              </a:rPr>
              <a:t>Nash架构·专为Transformer优化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25112" y="1280160"/>
            <a:ext cx="3611880" cy="1417320"/>
          </a:xfrm>
          <a:prstGeom prst="rect">
            <a:avLst/>
          </a:prstGeom>
          <a:solidFill>
            <a:srgbClr val="FFFFFF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7992" y="1389888"/>
            <a:ext cx="32461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808080"/>
                </a:solidFill>
                <a:latin typeface="微软雅黑"/>
                <a:ea typeface="微软雅黑"/>
              </a:rPr>
              <a:t>CPU(大脑)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7992" y="1737360"/>
            <a:ext cx="3246120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1" i="0">
                <a:solidFill>
                  <a:srgbClr val="1F4E79"/>
                </a:solidFill>
                <a:latin typeface="微软雅黑"/>
                <a:ea typeface="微软雅黑"/>
              </a:rPr>
              <a:t>6×A78AE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2267712"/>
            <a:ext cx="32461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微软雅黑"/>
                <a:ea typeface="微软雅黑"/>
              </a:rPr>
              <a:t>100K DMIPS 调度/感知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4" y="1280160"/>
            <a:ext cx="3611880" cy="1417320"/>
          </a:xfrm>
          <a:prstGeom prst="rect">
            <a:avLst/>
          </a:prstGeom>
          <a:solidFill>
            <a:srgbClr val="FFFFFF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84464" y="1389888"/>
            <a:ext cx="32461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808080"/>
                </a:solidFill>
                <a:latin typeface="微软雅黑"/>
                <a:ea typeface="微软雅黑"/>
              </a:rPr>
              <a:t>MCU(小脑)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4464" y="1737360"/>
            <a:ext cx="3246120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1" i="0">
                <a:solidFill>
                  <a:srgbClr val="1F4E79"/>
                </a:solidFill>
                <a:latin typeface="微软雅黑"/>
                <a:ea typeface="微软雅黑"/>
              </a:rPr>
              <a:t>4×R52+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2267712"/>
            <a:ext cx="32461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微软雅黑"/>
                <a:ea typeface="微软雅黑"/>
              </a:rPr>
              <a:t>关节实时运控(独立)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880360"/>
            <a:ext cx="3611880" cy="1417320"/>
          </a:xfrm>
          <a:prstGeom prst="rect">
            <a:avLst/>
          </a:prstGeom>
          <a:solidFill>
            <a:srgbClr val="FFFFFF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990088"/>
            <a:ext cx="32461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808080"/>
                </a:solidFill>
                <a:latin typeface="微软雅黑"/>
                <a:ea typeface="微软雅黑"/>
              </a:rPr>
              <a:t>运行内存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337560"/>
            <a:ext cx="3246120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1" i="0">
                <a:solidFill>
                  <a:srgbClr val="1F4E79"/>
                </a:solidFill>
                <a:latin typeface="微软雅黑"/>
                <a:ea typeface="微软雅黑"/>
              </a:rPr>
              <a:t>12 GB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67912"/>
            <a:ext cx="32461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微软雅黑"/>
                <a:ea typeface="微软雅黑"/>
              </a:rPr>
              <a:t>可载 7B-INT4 余量充足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25112" y="2880360"/>
            <a:ext cx="3611880" cy="1417320"/>
          </a:xfrm>
          <a:prstGeom prst="rect">
            <a:avLst/>
          </a:prstGeom>
          <a:solidFill>
            <a:srgbClr val="FFFFFF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07992" y="2990088"/>
            <a:ext cx="32461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808080"/>
                </a:solidFill>
                <a:latin typeface="微软雅黑"/>
                <a:ea typeface="微软雅黑"/>
              </a:rPr>
              <a:t>参考价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07992" y="3337560"/>
            <a:ext cx="3246120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1" i="0">
                <a:solidFill>
                  <a:srgbClr val="1F4E79"/>
                </a:solidFill>
                <a:latin typeface="微软雅黑"/>
                <a:ea typeface="微软雅黑"/>
              </a:rPr>
              <a:t>¥2499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07992" y="3867912"/>
            <a:ext cx="32461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微软雅黑"/>
                <a:ea typeface="微软雅黑"/>
              </a:rPr>
              <a:t>S100P:128T/24GB 加强版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01584" y="2880360"/>
            <a:ext cx="3611880" cy="1417320"/>
          </a:xfrm>
          <a:prstGeom prst="rect">
            <a:avLst/>
          </a:prstGeom>
          <a:solidFill>
            <a:srgbClr val="FFFFFF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84464" y="2990088"/>
            <a:ext cx="32461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808080"/>
                </a:solidFill>
                <a:latin typeface="微软雅黑"/>
                <a:ea typeface="微软雅黑"/>
              </a:rPr>
              <a:t>官方适配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84464" y="3337560"/>
            <a:ext cx="3246120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1" i="0">
                <a:solidFill>
                  <a:srgbClr val="1F4E79"/>
                </a:solidFill>
                <a:latin typeface="微软雅黑"/>
                <a:ea typeface="微软雅黑"/>
              </a:rPr>
              <a:t>Qwen3 DEMO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84464" y="3867912"/>
            <a:ext cx="32461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微软雅黑"/>
                <a:ea typeface="微软雅黑"/>
              </a:rPr>
              <a:t>ModelZoo 提供部署示例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486400"/>
            <a:ext cx="11064240" cy="868680"/>
          </a:xfrm>
          <a:prstGeom prst="rect">
            <a:avLst/>
          </a:prstGeom>
          <a:solidFill>
            <a:srgbClr val="FFF2CC"/>
          </a:solidFill>
          <a:ln w="12700">
            <a:solidFill>
              <a:srgbClr val="D0A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596128"/>
            <a:ext cx="10698480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50" b="0" i="0">
                <a:solidFill>
                  <a:srgbClr val="222222"/>
                </a:solidFill>
                <a:latin typeface="微软雅黑"/>
                <a:ea typeface="微软雅黑"/>
              </a:rPr>
              <a:t>💡 大小脑异构：运控由独立 MCU(R52+) 承担，BPU 可专注跑大模型；但 LLM 必须用地瓜工具链编译+INT8/INT4量化，选型时优先官方 ModelZoo 已适配的模型(如 Qwen3)，自带模型需自行适配。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微软雅黑"/>
                <a:ea typeface="微软雅黑"/>
              </a:rPr>
              <a:t>人形机器人端侧拟人模型选型 · 地瓜 RDK S100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808080"/>
                </a:solidFill>
                <a:latin typeface="微软雅黑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① 拟人交互场景与需求拆解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109728"/>
            <a:ext cx="1280160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500" b="1" i="0">
                <a:solidFill>
                  <a:srgbClr val="D6E4F0"/>
                </a:solidFill>
                <a:latin typeface="微软雅黑"/>
                <a:ea typeface="微软雅黑"/>
              </a:rPr>
              <a:t>场景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88720"/>
          <a:ext cx="11274548" cy="3785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4486"/>
                <a:gridCol w="2217944"/>
                <a:gridCol w="1848287"/>
                <a:gridCol w="1108972"/>
                <a:gridCol w="1201386"/>
                <a:gridCol w="1201386"/>
                <a:gridCol w="1478629"/>
                <a:gridCol w="1663458"/>
              </a:tblGrid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#</a:t>
                      </a:r>
                    </a:p>
                  </a:txBody>
                  <a:tcPr marL="36576" marR="36576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交互节点</a:t>
                      </a:r>
                    </a:p>
                  </a:txBody>
                  <a:tcPr marL="36576" marR="36576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功能</a:t>
                      </a:r>
                    </a:p>
                  </a:txBody>
                  <a:tcPr marL="36576" marR="36576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触发</a:t>
                      </a:r>
                    </a:p>
                  </a:txBody>
                  <a:tcPr marL="36576" marR="36576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输入Tok</a:t>
                      </a:r>
                    </a:p>
                  </a:txBody>
                  <a:tcPr marL="36576" marR="36576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输出Tok</a:t>
                      </a:r>
                    </a:p>
                  </a:txBody>
                  <a:tcPr marL="36576" marR="36576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延迟要求</a:t>
                      </a:r>
                    </a:p>
                  </a:txBody>
                  <a:tcPr marL="36576" marR="36576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能力</a:t>
                      </a:r>
                    </a:p>
                  </a:txBody>
                  <a:tcPr marL="36576" marR="36576" marT="18288" marB="18288" anchor="ctr">
                    <a:solidFill>
                      <a:srgbClr val="1F4E7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1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唤醒/意图识别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路由意图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高频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200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50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&lt;300ms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低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2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闲聊/日常对话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拟人闲聊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高频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400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150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&lt;800ms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中(拟人)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3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情感识别与共情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情绪回应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中频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350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200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&lt;1s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中-高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4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角色人格保持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人设一致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持续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800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150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&lt;1s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高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多轮记忆/上下文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连贯应答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持续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1500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200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&lt;1.2s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中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6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指令→动作(工具调用)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口令转动作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中频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500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100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&lt;500ms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高(结构化)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7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知识问答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常识问答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中频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600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300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&lt;1.5s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中-高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8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主动/闲时交互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主动发话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低频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300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120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&lt;1s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中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50" b="0" i="0">
                <a:solidFill>
                  <a:srgbClr val="808080"/>
                </a:solidFill>
                <a:latin typeface="微软雅黑"/>
                <a:ea typeface="微软雅黑"/>
              </a:rPr>
              <a:t>典型单轮：输入≈500~1200 token、输出≈120~250 token；端侧关注「每轮延迟」，目标 &lt;1s 首响，小模型即可覆盖约80%交互。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微软雅黑"/>
                <a:ea typeface="微软雅黑"/>
              </a:rPr>
              <a:t>人形机器人端侧拟人模型选型 · 地瓜 RDK S100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808080"/>
                </a:solidFill>
                <a:latin typeface="微软雅黑"/>
                <a:ea typeface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② 端侧候选小模型总览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109728"/>
            <a:ext cx="1280160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500" b="1" i="0">
                <a:solidFill>
                  <a:srgbClr val="D6E4F0"/>
                </a:solidFill>
                <a:latin typeface="微软雅黑"/>
                <a:ea typeface="微软雅黑"/>
              </a:rPr>
              <a:t>候选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88720"/>
          <a:ext cx="11274545" cy="4206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7273"/>
                <a:gridCol w="963636"/>
                <a:gridCol w="963636"/>
                <a:gridCol w="1252728"/>
                <a:gridCol w="963636"/>
                <a:gridCol w="963636"/>
                <a:gridCol w="963636"/>
                <a:gridCol w="963636"/>
                <a:gridCol w="2312728"/>
              </a:tblGrid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模型</a:t>
                      </a:r>
                    </a:p>
                  </a:txBody>
                  <a:tcPr marL="36576" marR="36576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参数</a:t>
                      </a:r>
                    </a:p>
                  </a:txBody>
                  <a:tcPr marL="36576" marR="36576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厂商</a:t>
                      </a:r>
                    </a:p>
                  </a:txBody>
                  <a:tcPr marL="36576" marR="36576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INT4显存</a:t>
                      </a:r>
                    </a:p>
                  </a:txBody>
                  <a:tcPr marL="36576" marR="36576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中文</a:t>
                      </a:r>
                    </a:p>
                  </a:txBody>
                  <a:tcPr marL="36576" marR="36576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拟人</a:t>
                      </a:r>
                    </a:p>
                  </a:txBody>
                  <a:tcPr marL="36576" marR="36576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指令</a:t>
                      </a:r>
                    </a:p>
                  </a:txBody>
                  <a:tcPr marL="36576" marR="36576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工具</a:t>
                      </a:r>
                    </a:p>
                  </a:txBody>
                  <a:tcPr marL="36576" marR="36576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RDK S100适配</a:t>
                      </a:r>
                    </a:p>
                  </a:txBody>
                  <a:tcPr marL="36576" marR="36576" marT="18288" marB="18288" anchor="ctr">
                    <a:solidFill>
                      <a:srgbClr val="1F4E7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Qwen3-0.6B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0.6B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阿里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~0.5GB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✓ 官方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Qwen3-1.7B</a:t>
                      </a:r>
                    </a:p>
                  </a:txBody>
                  <a:tcPr marL="36576" marR="36576" marT="9144" marB="9144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1.7B</a:t>
                      </a:r>
                    </a:p>
                  </a:txBody>
                  <a:tcPr marL="36576" marR="36576" marT="9144" marB="9144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阿里</a:t>
                      </a:r>
                    </a:p>
                  </a:txBody>
                  <a:tcPr marL="36576" marR="36576" marT="9144" marB="9144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~1.3GB</a:t>
                      </a:r>
                    </a:p>
                  </a:txBody>
                  <a:tcPr marL="36576" marR="36576" marT="9144" marB="9144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★★★★★</a:t>
                      </a:r>
                    </a:p>
                  </a:txBody>
                  <a:tcPr marL="36576" marR="36576" marT="9144" marB="9144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</a:t>
                      </a:r>
                    </a:p>
                  </a:txBody>
                  <a:tcPr marL="36576" marR="36576" marT="9144" marB="9144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36576" marR="36576" marT="9144" marB="9144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36576" marR="36576" marT="9144" marB="9144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✓ 官方 ⭐</a:t>
                      </a:r>
                    </a:p>
                  </a:txBody>
                  <a:tcPr marL="36576" marR="36576" marT="9144" marB="9144" anchor="ctr">
                    <a:solidFill>
                      <a:srgbClr val="FFF2C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Qwen2.5-1.5B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1.5B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阿里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~1.1GB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★★★★★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✓ 易适配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Qwen2.5-3B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3B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阿里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~2.1GB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★★★★★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✓ 易适配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Qwen3-4B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4B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阿里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~2.7GB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★★★★★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★★★★★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★★★★★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✓ 官方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MiniCPM3-4B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4B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面壁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~2.6GB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★★★★★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△ 需适配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Index-1.9B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1.9B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B站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~1.3GB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★★★★★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△ 需适配·拟人强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GLM-Edge-4B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4B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智谱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~2.7GB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★★★★★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△ 需适配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Qwen2.5-7B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7B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阿里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~4.3GB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★★★★★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★★★★★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★★★★★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✓ 偏重·质量天花板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50" b="0" i="0">
                <a:solidFill>
                  <a:srgbClr val="808080"/>
                </a:solidFill>
                <a:latin typeface="微软雅黑"/>
                <a:ea typeface="微软雅黑"/>
              </a:rPr>
              <a:t>「拟人」=人格/口吻一致度；适配栏：✓官方ModelZoo已有 / △ 需自行用工具链转换。算力有限时优先 ✓ 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微软雅黑"/>
                <a:ea typeface="微软雅黑"/>
              </a:rPr>
              <a:t>人形机器人端侧拟人模型选型 · 地瓜 RDK S100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808080"/>
                </a:solidFill>
                <a:latin typeface="微软雅黑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③ 推理性能对比（速度 / 延迟 / 显存）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109728"/>
            <a:ext cx="1280160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500" b="1" i="0">
                <a:solidFill>
                  <a:srgbClr val="D6E4F0"/>
                </a:solidFill>
                <a:latin typeface="微软雅黑"/>
                <a:ea typeface="微软雅黑"/>
              </a:rPr>
              <a:t>性能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88720"/>
          <a:ext cx="11274547" cy="33649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14546"/>
                <a:gridCol w="1063636"/>
                <a:gridCol w="1063636"/>
                <a:gridCol w="1276364"/>
                <a:gridCol w="1276364"/>
                <a:gridCol w="1276364"/>
                <a:gridCol w="1276364"/>
                <a:gridCol w="2127273"/>
              </a:tblGrid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模型</a:t>
                      </a:r>
                    </a:p>
                  </a:txBody>
                  <a:tcPr marL="36576" marR="36576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参数</a:t>
                      </a:r>
                    </a:p>
                  </a:txBody>
                  <a:tcPr marL="36576" marR="36576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量化</a:t>
                      </a:r>
                    </a:p>
                  </a:txBody>
                  <a:tcPr marL="36576" marR="36576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显存</a:t>
                      </a:r>
                    </a:p>
                  </a:txBody>
                  <a:tcPr marL="36576" marR="36576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首字延迟</a:t>
                      </a:r>
                    </a:p>
                  </a:txBody>
                  <a:tcPr marL="36576" marR="36576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解码吞吐*</a:t>
                      </a:r>
                    </a:p>
                  </a:txBody>
                  <a:tcPr marL="36576" marR="36576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单轮响应*</a:t>
                      </a:r>
                    </a:p>
                  </a:txBody>
                  <a:tcPr marL="36576" marR="36576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速度评价</a:t>
                      </a:r>
                    </a:p>
                  </a:txBody>
                  <a:tcPr marL="36576" marR="36576" marT="18288" marB="18288" anchor="ctr">
                    <a:solidFill>
                      <a:srgbClr val="1F4E7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Qwen3-0.6B</a:t>
                      </a:r>
                    </a:p>
                  </a:txBody>
                  <a:tcPr marL="36576" marR="36576" marT="9144" marB="9144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0.6B</a:t>
                      </a:r>
                    </a:p>
                  </a:txBody>
                  <a:tcPr marL="36576" marR="36576" marT="9144" marB="9144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INT4</a:t>
                      </a:r>
                    </a:p>
                  </a:txBody>
                  <a:tcPr marL="36576" marR="36576" marT="9144" marB="9144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~0.5GB</a:t>
                      </a:r>
                    </a:p>
                  </a:txBody>
                  <a:tcPr marL="36576" marR="36576" marT="9144" marB="9144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极低</a:t>
                      </a:r>
                    </a:p>
                  </a:txBody>
                  <a:tcPr marL="36576" marR="36576" marT="9144" marB="9144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很高</a:t>
                      </a:r>
                    </a:p>
                  </a:txBody>
                  <a:tcPr marL="36576" marR="36576" marT="9144" marB="9144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~0.3s</a:t>
                      </a:r>
                    </a:p>
                  </a:txBody>
                  <a:tcPr marL="36576" marR="36576" marT="9144" marB="9144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⭐极快·兜底</a:t>
                      </a:r>
                    </a:p>
                  </a:txBody>
                  <a:tcPr marL="36576" marR="36576" marT="9144" marB="9144" anchor="ctr">
                    <a:solidFill>
                      <a:srgbClr val="FFF2C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Qwen2.5-1.5B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1.5B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INT4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~1.1GB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低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高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~0.5s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快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Qwen3-1.7B</a:t>
                      </a:r>
                    </a:p>
                  </a:txBody>
                  <a:tcPr marL="36576" marR="36576" marT="9144" marB="9144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1.7B</a:t>
                      </a:r>
                    </a:p>
                  </a:txBody>
                  <a:tcPr marL="36576" marR="36576" marT="9144" marB="9144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INT4</a:t>
                      </a:r>
                    </a:p>
                  </a:txBody>
                  <a:tcPr marL="36576" marR="36576" marT="9144" marB="9144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~1.3GB</a:t>
                      </a:r>
                    </a:p>
                  </a:txBody>
                  <a:tcPr marL="36576" marR="36576" marT="9144" marB="9144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低</a:t>
                      </a:r>
                    </a:p>
                  </a:txBody>
                  <a:tcPr marL="36576" marR="36576" marT="9144" marB="9144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高</a:t>
                      </a:r>
                    </a:p>
                  </a:txBody>
                  <a:tcPr marL="36576" marR="36576" marT="9144" marB="9144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~0.5s</a:t>
                      </a:r>
                    </a:p>
                  </a:txBody>
                  <a:tcPr marL="36576" marR="36576" marT="9144" marB="9144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⭐快·均衡首选</a:t>
                      </a:r>
                    </a:p>
                  </a:txBody>
                  <a:tcPr marL="36576" marR="36576" marT="9144" marB="9144" anchor="ctr">
                    <a:solidFill>
                      <a:srgbClr val="FFF2C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Index-1.9B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1.9B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INT4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~1.3GB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低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较高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~0.6s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快·拟人强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Qwen2.5-3B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3B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INT4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~2.1GB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中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中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~0.9s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均衡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Qwen3-4B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4B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INT4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~2.7GB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中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中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~1.2s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质量高·偏慢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Qwen2.5-7B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7B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INT4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~4.3GB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偏高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偏低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~2.0s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质量最佳·吃力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50" b="0" i="0">
                <a:solidFill>
                  <a:srgbClr val="808080"/>
                </a:solidFill>
                <a:latin typeface="微软雅黑"/>
                <a:ea typeface="微软雅黑"/>
              </a:rPr>
              <a:t>* RDK S100 为 BPU，实际 tok/s 取决于地瓜工具链编译与量化，需实机实测；此处为相对快慢量级参考，非 Jetson 数值。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微软雅黑"/>
                <a:ea typeface="微软雅黑"/>
              </a:rPr>
              <a:t>人形机器人端侧拟人模型选型 · 地瓜 RDK S100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808080"/>
                </a:solidFill>
                <a:latin typeface="微软雅黑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④ 拟人能力与回答准确度评测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109728"/>
            <a:ext cx="1280160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500" b="1" i="0">
                <a:solidFill>
                  <a:srgbClr val="D6E4F0"/>
                </a:solidFill>
                <a:latin typeface="微软雅黑"/>
                <a:ea typeface="微软雅黑"/>
              </a:rPr>
              <a:t>准确度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88720"/>
          <a:ext cx="11274552" cy="33649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70304"/>
                <a:gridCol w="1043940"/>
                <a:gridCol w="1357122"/>
                <a:gridCol w="939546"/>
                <a:gridCol w="939546"/>
                <a:gridCol w="1252728"/>
                <a:gridCol w="1252728"/>
                <a:gridCol w="1252728"/>
                <a:gridCol w="1565910"/>
              </a:tblGrid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模型</a:t>
                      </a:r>
                    </a:p>
                  </a:txBody>
                  <a:tcPr marL="36576" marR="36576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中文</a:t>
                      </a:r>
                    </a:p>
                  </a:txBody>
                  <a:tcPr marL="36576" marR="36576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人格一致</a:t>
                      </a:r>
                    </a:p>
                  </a:txBody>
                  <a:tcPr marL="36576" marR="36576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共情</a:t>
                      </a:r>
                    </a:p>
                  </a:txBody>
                  <a:tcPr marL="36576" marR="36576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指令</a:t>
                      </a:r>
                    </a:p>
                  </a:txBody>
                  <a:tcPr marL="36576" marR="36576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工具调用</a:t>
                      </a:r>
                    </a:p>
                  </a:txBody>
                  <a:tcPr marL="36576" marR="36576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知识准确</a:t>
                      </a:r>
                    </a:p>
                  </a:txBody>
                  <a:tcPr marL="36576" marR="36576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幻觉控制</a:t>
                      </a:r>
                    </a:p>
                  </a:txBody>
                  <a:tcPr marL="36576" marR="36576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拟人综合</a:t>
                      </a:r>
                    </a:p>
                  </a:txBody>
                  <a:tcPr marL="36576" marR="36576" marT="18288" marB="18288" anchor="ctr">
                    <a:solidFill>
                      <a:srgbClr val="1F4E7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Qwen3-0.6B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 兜底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Qwen2.5-1.5B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★★★★★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 均衡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Qwen3-1.7B</a:t>
                      </a:r>
                    </a:p>
                  </a:txBody>
                  <a:tcPr marL="36576" marR="36576" marT="9144" marB="9144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★★★★★</a:t>
                      </a:r>
                    </a:p>
                  </a:txBody>
                  <a:tcPr marL="36576" marR="36576" marT="9144" marB="9144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</a:t>
                      </a:r>
                    </a:p>
                  </a:txBody>
                  <a:tcPr marL="36576" marR="36576" marT="9144" marB="9144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</a:t>
                      </a:r>
                    </a:p>
                  </a:txBody>
                  <a:tcPr marL="36576" marR="36576" marT="9144" marB="9144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36576" marR="36576" marT="9144" marB="9144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36576" marR="36576" marT="9144" marB="9144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36576" marR="36576" marT="9144" marB="9144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36576" marR="36576" marT="9144" marB="9144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 推荐</a:t>
                      </a:r>
                    </a:p>
                  </a:txBody>
                  <a:tcPr marL="36576" marR="36576" marT="9144" marB="9144" anchor="ctr">
                    <a:solidFill>
                      <a:srgbClr val="FFF2C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Index-1.9B</a:t>
                      </a:r>
                    </a:p>
                  </a:txBody>
                  <a:tcPr marL="36576" marR="36576" marT="9144" marB="9144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36576" marR="36576" marT="9144" marB="9144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★★★★★</a:t>
                      </a:r>
                    </a:p>
                  </a:txBody>
                  <a:tcPr marL="36576" marR="36576" marT="9144" marB="9144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36576" marR="36576" marT="9144" marB="9144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</a:t>
                      </a:r>
                    </a:p>
                  </a:txBody>
                  <a:tcPr marL="36576" marR="36576" marT="9144" marB="9144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</a:t>
                      </a:r>
                    </a:p>
                  </a:txBody>
                  <a:tcPr marL="36576" marR="36576" marT="9144" marB="9144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</a:t>
                      </a:r>
                    </a:p>
                  </a:txBody>
                  <a:tcPr marL="36576" marR="36576" marT="9144" marB="9144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</a:t>
                      </a:r>
                    </a:p>
                  </a:txBody>
                  <a:tcPr marL="36576" marR="36576" marT="9144" marB="9144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 角色强</a:t>
                      </a:r>
                    </a:p>
                  </a:txBody>
                  <a:tcPr marL="36576" marR="36576" marT="9144" marB="9144" anchor="ctr">
                    <a:solidFill>
                      <a:srgbClr val="FFF2C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Qwen2.5-3B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★★★★★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Qwen3-4B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★★★★★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★★★★★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★★★★★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★★★★★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Qwen2.5-7B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★★★★★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★★★★★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★★★★★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★★★★★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★★★★★ 最佳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50" b="0" i="0">
                <a:solidFill>
                  <a:srgbClr val="808080"/>
                </a:solidFill>
                <a:latin typeface="微软雅黑"/>
                <a:ea typeface="微软雅黑"/>
              </a:rPr>
              <a:t>针对「拟人对话」：人格一致=口吻/人设稳定，工具调用=口令转结构化动作可靠度。小模型可用 LoRA 微调补拟人短板。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微软雅黑"/>
                <a:ea typeface="微软雅黑"/>
              </a:rPr>
              <a:t>人形机器人端侧拟人模型选型 · 地瓜 RDK S100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808080"/>
                </a:solidFill>
                <a:latin typeface="微软雅黑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⑤ 综合加权评分与排名（满分10）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109728"/>
            <a:ext cx="1280160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500" b="1" i="0">
                <a:solidFill>
                  <a:srgbClr val="D6E4F0"/>
                </a:solidFill>
                <a:latin typeface="微软雅黑"/>
                <a:ea typeface="微软雅黑"/>
              </a:rPr>
              <a:t>评分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88720"/>
          <a:ext cx="11274546" cy="33649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95946"/>
                <a:gridCol w="1097522"/>
                <a:gridCol w="1097522"/>
                <a:gridCol w="1097522"/>
                <a:gridCol w="1097522"/>
                <a:gridCol w="997747"/>
                <a:gridCol w="1097522"/>
                <a:gridCol w="2993243"/>
              </a:tblGrid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模型</a:t>
                      </a:r>
                    </a:p>
                  </a:txBody>
                  <a:tcPr marL="36576" marR="36576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速度30%</a:t>
                      </a:r>
                    </a:p>
                  </a:txBody>
                  <a:tcPr marL="36576" marR="36576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拟人25%</a:t>
                      </a:r>
                    </a:p>
                  </a:txBody>
                  <a:tcPr marL="36576" marR="36576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准确20%</a:t>
                      </a:r>
                    </a:p>
                  </a:txBody>
                  <a:tcPr marL="36576" marR="36576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资源15%</a:t>
                      </a:r>
                    </a:p>
                  </a:txBody>
                  <a:tcPr marL="36576" marR="36576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中文10%</a:t>
                      </a:r>
                    </a:p>
                  </a:txBody>
                  <a:tcPr marL="36576" marR="36576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加权总分</a:t>
                      </a:r>
                    </a:p>
                  </a:txBody>
                  <a:tcPr marL="36576" marR="36576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结论</a:t>
                      </a:r>
                    </a:p>
                  </a:txBody>
                  <a:tcPr marL="36576" marR="36576" marT="18288" marB="18288" anchor="ctr">
                    <a:solidFill>
                      <a:srgbClr val="1F4E7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Qwen3-1.7B</a:t>
                      </a:r>
                    </a:p>
                  </a:txBody>
                  <a:tcPr marL="36576" marR="36576" marT="9144" marB="9144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8.5</a:t>
                      </a:r>
                    </a:p>
                  </a:txBody>
                  <a:tcPr marL="36576" marR="36576" marT="9144" marB="9144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7.0</a:t>
                      </a:r>
                    </a:p>
                  </a:txBody>
                  <a:tcPr marL="36576" marR="36576" marT="9144" marB="9144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7.5</a:t>
                      </a:r>
                    </a:p>
                  </a:txBody>
                  <a:tcPr marL="36576" marR="36576" marT="9144" marB="9144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8.5</a:t>
                      </a:r>
                    </a:p>
                  </a:txBody>
                  <a:tcPr marL="36576" marR="36576" marT="9144" marB="9144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9.0</a:t>
                      </a:r>
                    </a:p>
                  </a:txBody>
                  <a:tcPr marL="36576" marR="36576" marT="9144" marB="9144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7.93</a:t>
                      </a:r>
                    </a:p>
                  </a:txBody>
                  <a:tcPr marL="36576" marR="36576" marT="9144" marB="9144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🥇 RDK S100首选(官方适配)</a:t>
                      </a:r>
                    </a:p>
                  </a:txBody>
                  <a:tcPr marL="36576" marR="36576" marT="9144" marB="9144" anchor="ctr">
                    <a:solidFill>
                      <a:srgbClr val="FFF2C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Index-1.9B</a:t>
                      </a:r>
                    </a:p>
                  </a:txBody>
                  <a:tcPr marL="36576" marR="36576" marT="9144" marB="9144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8.0</a:t>
                      </a:r>
                    </a:p>
                  </a:txBody>
                  <a:tcPr marL="36576" marR="36576" marT="9144" marB="9144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9.0</a:t>
                      </a:r>
                    </a:p>
                  </a:txBody>
                  <a:tcPr marL="36576" marR="36576" marT="9144" marB="9144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6.5</a:t>
                      </a:r>
                    </a:p>
                  </a:txBody>
                  <a:tcPr marL="36576" marR="36576" marT="9144" marB="9144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8.5</a:t>
                      </a:r>
                    </a:p>
                  </a:txBody>
                  <a:tcPr marL="36576" marR="36576" marT="9144" marB="9144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8.0</a:t>
                      </a:r>
                    </a:p>
                  </a:txBody>
                  <a:tcPr marL="36576" marR="36576" marT="9144" marB="9144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7.93</a:t>
                      </a:r>
                    </a:p>
                  </a:txBody>
                  <a:tcPr marL="36576" marR="36576" marT="9144" marB="9144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🏅 拟人/陪伴最佳(需适配)</a:t>
                      </a:r>
                    </a:p>
                  </a:txBody>
                  <a:tcPr marL="36576" marR="36576" marT="9144" marB="9144" anchor="ctr">
                    <a:solidFill>
                      <a:srgbClr val="FFF2C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Qwen2.5-3B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7.5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8.0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8.0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7.5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9.0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7.85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🥈 质量更稳·算力够再上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Qwen2.5-1.5B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9.0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6.5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7.0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9.0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9.0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7.85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低功耗/副脑首选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Qwen3-4B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6.5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8.5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8.5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6.5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9.0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7.63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质量优先·建议S100P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Qwen3-0.6B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10.0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4.0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5.0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10.0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8.0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7.10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唤醒/意图兜底</a:t>
                      </a:r>
                    </a:p>
                  </a:txBody>
                  <a:tcPr marL="36576" marR="36576" marT="9144" marB="9144" anchor="ctr">
                    <a:solidFill>
                      <a:srgbClr val="EEF3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Qwen2.5-7B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5.0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8.5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9.0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5.0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9.0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7.10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质量天花板·S100吃力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50" b="0" i="0">
                <a:solidFill>
                  <a:srgbClr val="808080"/>
                </a:solidFill>
                <a:latin typeface="微软雅黑"/>
                <a:ea typeface="微软雅黑"/>
              </a:rPr>
              <a:t>权重：速度30%&gt;拟人25%&gt;准确20%&gt;资源15%&gt;中文10%，可按你的电池/实时性预算调整。评分为相对估算。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微软雅黑"/>
                <a:ea typeface="微软雅黑"/>
              </a:rPr>
              <a:t>人形机器人端侧拟人模型选型 · 地瓜 RDK S100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808080"/>
                </a:solidFill>
                <a:latin typeface="微软雅黑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⑥ 推荐方案（针对 RDK S100）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109728"/>
            <a:ext cx="1280160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500" b="1" i="0">
                <a:solidFill>
                  <a:srgbClr val="D6E4F0"/>
                </a:solidFill>
                <a:latin typeface="微软雅黑"/>
                <a:ea typeface="微软雅黑"/>
              </a:rPr>
              <a:t>推荐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80160"/>
            <a:ext cx="11064240" cy="1078992"/>
          </a:xfrm>
          <a:prstGeom prst="rect">
            <a:avLst/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280160"/>
            <a:ext cx="128016" cy="107899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274320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  <a:latin typeface="微软雅黑"/>
                <a:ea typeface="微软雅黑"/>
              </a:rPr>
              <a:t>🥇 主对话·首选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1371600"/>
            <a:ext cx="237744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1F4E79"/>
                </a:solidFill>
                <a:latin typeface="微软雅黑"/>
                <a:ea typeface="微软雅黑"/>
              </a:rPr>
              <a:t>Qwen3-1.7B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1371600"/>
            <a:ext cx="539496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50" b="0" i="0">
                <a:solidFill>
                  <a:srgbClr val="222222"/>
                </a:solidFill>
                <a:latin typeface="微软雅黑"/>
                <a:ea typeface="微软雅黑"/>
              </a:rPr>
              <a:t>官方已适配，速度/拟人/中文最均衡，&lt;0.6s 首响，落地最快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487168"/>
            <a:ext cx="11064240" cy="1078992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487168"/>
            <a:ext cx="128016" cy="107899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578608"/>
            <a:ext cx="274320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微软雅黑"/>
                <a:ea typeface="微软雅黑"/>
              </a:rPr>
              <a:t>⚡ 唤醒/意图·兜底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578608"/>
            <a:ext cx="237744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1F4E79"/>
                </a:solidFill>
                <a:latin typeface="微软雅黑"/>
                <a:ea typeface="微软雅黑"/>
              </a:rPr>
              <a:t>Qwen3-0.6B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578608"/>
            <a:ext cx="539496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50" b="0" i="0">
                <a:solidFill>
                  <a:srgbClr val="222222"/>
                </a:solidFill>
                <a:latin typeface="微软雅黑"/>
                <a:ea typeface="微软雅黑"/>
              </a:rPr>
              <a:t>极快路由，与主模型分层调度，省电省算力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694176"/>
            <a:ext cx="11064240" cy="1078992"/>
          </a:xfrm>
          <a:prstGeom prst="rect">
            <a:avLst/>
          </a:prstGeom>
          <a:solidFill>
            <a:srgbClr val="FFFFFF"/>
          </a:solidFill>
          <a:ln w="19050">
            <a:solidFill>
              <a:srgbClr val="6A4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694176"/>
            <a:ext cx="128016" cy="107899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785616"/>
            <a:ext cx="274320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500" b="1" i="0">
                <a:solidFill>
                  <a:srgbClr val="6A4C93"/>
                </a:solidFill>
                <a:latin typeface="微软雅黑"/>
                <a:ea typeface="微软雅黑"/>
              </a:rPr>
              <a:t>🎭 强拟人陪伴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3785616"/>
            <a:ext cx="237744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1F4E79"/>
                </a:solidFill>
                <a:latin typeface="微软雅黑"/>
                <a:ea typeface="微软雅黑"/>
              </a:rPr>
              <a:t>Index-1.9B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3785616"/>
            <a:ext cx="539496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50" b="0" i="0">
                <a:solidFill>
                  <a:srgbClr val="222222"/>
                </a:solidFill>
                <a:latin typeface="微软雅黑"/>
                <a:ea typeface="微软雅黑"/>
              </a:rPr>
              <a:t>角色/人设一致性专精，最像人；需自行用工具链适配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901184"/>
            <a:ext cx="11064240" cy="1078992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901184"/>
            <a:ext cx="128016" cy="107899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992624"/>
            <a:ext cx="274320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500" b="1" i="0">
                <a:solidFill>
                  <a:srgbClr val="2E8B57"/>
                </a:solidFill>
                <a:latin typeface="微软雅黑"/>
                <a:ea typeface="微软雅黑"/>
              </a:rPr>
              <a:t>📈 质量升级路线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4992624"/>
            <a:ext cx="237744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1F4E79"/>
                </a:solidFill>
                <a:latin typeface="微软雅黑"/>
                <a:ea typeface="微软雅黑"/>
              </a:rPr>
              <a:t>Qwen3-4B / 升 S100P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4992624"/>
            <a:ext cx="539496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50" b="0" i="0">
                <a:solidFill>
                  <a:srgbClr val="222222"/>
                </a:solidFill>
                <a:latin typeface="微软雅黑"/>
                <a:ea typeface="微软雅黑"/>
              </a:rPr>
              <a:t>要更高准确度且要实时，升级到 128T/24GB 的 S100P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微软雅黑"/>
                <a:ea typeface="微软雅黑"/>
              </a:rPr>
              <a:t>人形机器人端侧拟人模型选型 · 地瓜 RDK S100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808080"/>
                </a:solidFill>
                <a:latin typeface="微软雅黑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⑦ 算力不够，怎么办？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109728"/>
            <a:ext cx="1280160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500" b="1" i="0">
                <a:solidFill>
                  <a:srgbClr val="D6E4F0"/>
                </a:solidFill>
                <a:latin typeface="微软雅黑"/>
                <a:ea typeface="微软雅黑"/>
              </a:rPr>
              <a:t>破局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222222"/>
                </a:solidFill>
                <a:latin typeface="微软雅黑"/>
                <a:ea typeface="微软雅黑"/>
              </a:rPr>
              <a:t>端侧算力是硬约束——与其硬上大模型，不如用「分层 + 量化 + 微调 + 端云协同」把小模型用到极致：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5486400" cy="1078992"/>
          </a:xfrm>
          <a:prstGeom prst="rect">
            <a:avLst/>
          </a:prstGeom>
          <a:solidFill>
            <a:srgbClr val="EEF3FA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91640"/>
            <a:ext cx="51206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50" b="1" i="0">
                <a:solidFill>
                  <a:srgbClr val="1F4E79"/>
                </a:solidFill>
                <a:latin typeface="微软雅黑"/>
                <a:ea typeface="微软雅黑"/>
              </a:rPr>
              <a:t>① 分层调度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03120"/>
            <a:ext cx="512064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微软雅黑"/>
                <a:ea typeface="微软雅黑"/>
              </a:rPr>
              <a:t>0.6B 跑唤醒/意图兜底，1.7B 跑主对话——比单模型更省算力、首响更快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600200"/>
            <a:ext cx="5486400" cy="1078992"/>
          </a:xfrm>
          <a:prstGeom prst="rect">
            <a:avLst/>
          </a:prstGeom>
          <a:solidFill>
            <a:srgbClr val="EEF3FA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691640"/>
            <a:ext cx="51206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50" b="1" i="0">
                <a:solidFill>
                  <a:srgbClr val="1F4E79"/>
                </a:solidFill>
                <a:latin typeface="微软雅黑"/>
                <a:ea typeface="微软雅黑"/>
              </a:rPr>
              <a:t>② INT4 量化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103120"/>
            <a:ext cx="512064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微软雅黑"/>
                <a:ea typeface="微软雅黑"/>
              </a:rPr>
              <a:t>用地瓜工具链 INT8/INT4 量化，显存砍半、吞吐翻倍，1.7~4B 精度损失可接受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788920"/>
            <a:ext cx="5486400" cy="1078992"/>
          </a:xfrm>
          <a:prstGeom prst="rect">
            <a:avLst/>
          </a:prstGeom>
          <a:solidFill>
            <a:srgbClr val="EEF3FA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880360"/>
            <a:ext cx="51206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50" b="1" i="0">
                <a:solidFill>
                  <a:srgbClr val="1F4E79"/>
                </a:solidFill>
                <a:latin typeface="微软雅黑"/>
                <a:ea typeface="微软雅黑"/>
              </a:rPr>
              <a:t>③ LoRA 微调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291840"/>
            <a:ext cx="512064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微软雅黑"/>
                <a:ea typeface="微软雅黑"/>
              </a:rPr>
              <a:t>给小模型注入固定人设/口令，靠微调补拟人短板，比堆参数划算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2788920"/>
            <a:ext cx="5486400" cy="1078992"/>
          </a:xfrm>
          <a:prstGeom prst="rect">
            <a:avLst/>
          </a:prstGeom>
          <a:solidFill>
            <a:srgbClr val="EEF3FA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2880360"/>
            <a:ext cx="51206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50" b="1" i="0">
                <a:solidFill>
                  <a:srgbClr val="1F4E79"/>
                </a:solidFill>
                <a:latin typeface="微软雅黑"/>
                <a:ea typeface="微软雅黑"/>
              </a:rPr>
              <a:t>④ 端云协同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291840"/>
            <a:ext cx="512064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微软雅黑"/>
                <a:ea typeface="微软雅黑"/>
              </a:rPr>
              <a:t>端侧小模型兜底常见对话；复杂/长尾问题异步上云，体验与算力两全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977640"/>
            <a:ext cx="5486400" cy="1078992"/>
          </a:xfrm>
          <a:prstGeom prst="rect">
            <a:avLst/>
          </a:prstGeom>
          <a:solidFill>
            <a:srgbClr val="EEF3FA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069080"/>
            <a:ext cx="51206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50" b="1" i="0">
                <a:solidFill>
                  <a:srgbClr val="1F4E79"/>
                </a:solidFill>
                <a:latin typeface="微软雅黑"/>
                <a:ea typeface="微软雅黑"/>
              </a:rPr>
              <a:t>⑤ KV-Cache+前缀复用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480560"/>
            <a:ext cx="512064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微软雅黑"/>
                <a:ea typeface="微软雅黑"/>
              </a:rPr>
              <a:t>人设/工具定义放固定 System 前缀复用缓存，首响 -30~50%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3977640"/>
            <a:ext cx="5486400" cy="1078992"/>
          </a:xfrm>
          <a:prstGeom prst="rect">
            <a:avLst/>
          </a:prstGeom>
          <a:solidFill>
            <a:srgbClr val="EEF3FA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1206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50" b="1" i="0">
                <a:solidFill>
                  <a:srgbClr val="1F4E79"/>
                </a:solidFill>
                <a:latin typeface="微软雅黑"/>
                <a:ea typeface="微软雅黑"/>
              </a:rPr>
              <a:t>⑥ 限长+流式TTS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60"/>
            <a:ext cx="512064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微软雅黑"/>
                <a:ea typeface="微软雅黑"/>
              </a:rPr>
              <a:t>限制输出长度、边生成边语音合成，越早出声越拟人，体感延迟大降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166360"/>
            <a:ext cx="5486400" cy="1078992"/>
          </a:xfrm>
          <a:prstGeom prst="rect">
            <a:avLst/>
          </a:prstGeom>
          <a:solidFill>
            <a:srgbClr val="EEF3FA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5257800"/>
            <a:ext cx="51206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50" b="1" i="0">
                <a:solidFill>
                  <a:srgbClr val="1F4E79"/>
                </a:solidFill>
                <a:latin typeface="微软雅黑"/>
                <a:ea typeface="微软雅黑"/>
              </a:rPr>
              <a:t>⑦ 投机解码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669280"/>
            <a:ext cx="512064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微软雅黑"/>
                <a:ea typeface="微软雅黑"/>
              </a:rPr>
              <a:t>0.6B 做 draft 给 1.7B 验证，解码再提速 30~80%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26480" y="5166360"/>
            <a:ext cx="5486400" cy="1078992"/>
          </a:xfrm>
          <a:prstGeom prst="rect">
            <a:avLst/>
          </a:prstGeom>
          <a:solidFill>
            <a:srgbClr val="EEF3FA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9360" y="5257800"/>
            <a:ext cx="51206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50" b="1" i="0">
                <a:solidFill>
                  <a:srgbClr val="1F4E79"/>
                </a:solidFill>
                <a:latin typeface="微软雅黑"/>
                <a:ea typeface="微软雅黑"/>
              </a:rPr>
              <a:t>⑧ 升级硬件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5669280"/>
            <a:ext cx="512064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微软雅黑"/>
                <a:ea typeface="微软雅黑"/>
              </a:rPr>
              <a:t>实在不够就上 RDK S100P（128 TOPS / 24GB），可实时跑 4~7B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微软雅黑"/>
                <a:ea typeface="微软雅黑"/>
              </a:rPr>
              <a:t>人形机器人端侧拟人模型选型 · 地瓜 RDK S100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808080"/>
                </a:solidFill>
                <a:latin typeface="微软雅黑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落地路线与下一步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109728"/>
            <a:ext cx="1280160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500" b="1" i="0">
                <a:solidFill>
                  <a:srgbClr val="D6E4F0"/>
                </a:solidFill>
                <a:latin typeface="微软雅黑"/>
                <a:ea typeface="微软雅黑"/>
              </a:rPr>
              <a:t>路线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822960" cy="8229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82296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371600"/>
            <a:ext cx="9875520" cy="822960"/>
          </a:xfrm>
          <a:prstGeom prst="rect">
            <a:avLst/>
          </a:prstGeom>
          <a:solidFill>
            <a:srgbClr val="EEF3FA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65960" y="1444752"/>
            <a:ext cx="2743200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  <a:latin typeface="微软雅黑"/>
                <a:ea typeface="微软雅黑"/>
              </a:rPr>
              <a:t>第1步 · 选基线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1444752"/>
            <a:ext cx="6583680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50" b="0" i="0">
                <a:solidFill>
                  <a:srgbClr val="222222"/>
                </a:solidFill>
                <a:latin typeface="微软雅黑"/>
                <a:ea typeface="微软雅黑"/>
              </a:rPr>
              <a:t>在 RDK S100 上跑通官方 Qwen3-1.7B DEMO，作为基线模型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304288"/>
            <a:ext cx="822960" cy="8229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304288"/>
            <a:ext cx="82296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37360" y="2304288"/>
            <a:ext cx="9875520" cy="822960"/>
          </a:xfrm>
          <a:prstGeom prst="rect">
            <a:avLst/>
          </a:prstGeom>
          <a:solidFill>
            <a:srgbClr val="EEF3FA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65960" y="2377440"/>
            <a:ext cx="2743200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  <a:latin typeface="微软雅黑"/>
                <a:ea typeface="微软雅黑"/>
              </a:rPr>
              <a:t>第2步 · 实测回填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377440"/>
            <a:ext cx="6583680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50" b="0" i="0">
                <a:solidFill>
                  <a:srgbClr val="222222"/>
                </a:solidFill>
                <a:latin typeface="微软雅黑"/>
                <a:ea typeface="微软雅黑"/>
              </a:rPr>
              <a:t>用真实交互语料测首字延迟/吞吐/拟人盲评，回填本报告④⑤数据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3236976"/>
            <a:ext cx="822960" cy="8229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236976"/>
            <a:ext cx="82296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37360" y="3236976"/>
            <a:ext cx="9875520" cy="822960"/>
          </a:xfrm>
          <a:prstGeom prst="rect">
            <a:avLst/>
          </a:prstGeom>
          <a:solidFill>
            <a:srgbClr val="EEF3FA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5960" y="3310128"/>
            <a:ext cx="2743200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  <a:latin typeface="微软雅黑"/>
                <a:ea typeface="微软雅黑"/>
              </a:rPr>
              <a:t>第3步 · 量化调优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3310128"/>
            <a:ext cx="6583680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50" b="0" i="0">
                <a:solidFill>
                  <a:srgbClr val="222222"/>
                </a:solidFill>
                <a:latin typeface="微软雅黑"/>
                <a:ea typeface="微软雅黑"/>
              </a:rPr>
              <a:t>INT4 量化 + KV-Cache + 限长流式TTS，把首响压到 &lt;1s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169664"/>
            <a:ext cx="822960" cy="8229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169664"/>
            <a:ext cx="82296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737360" y="4169664"/>
            <a:ext cx="9875520" cy="822960"/>
          </a:xfrm>
          <a:prstGeom prst="rect">
            <a:avLst/>
          </a:prstGeom>
          <a:solidFill>
            <a:srgbClr val="EEF3FA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65960" y="4242816"/>
            <a:ext cx="2743200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  <a:latin typeface="微软雅黑"/>
                <a:ea typeface="微软雅黑"/>
              </a:rPr>
              <a:t>第4步 · 拟人微调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4242816"/>
            <a:ext cx="6583680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50" b="0" i="0">
                <a:solidFill>
                  <a:srgbClr val="222222"/>
                </a:solidFill>
                <a:latin typeface="微软雅黑"/>
                <a:ea typeface="微软雅黑"/>
              </a:rPr>
              <a:t>LoRA 注入人设/口令；强陪伴场景对比适配 Index-1.9B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102352"/>
            <a:ext cx="822960" cy="8229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102352"/>
            <a:ext cx="82296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37360" y="5102352"/>
            <a:ext cx="9875520" cy="822960"/>
          </a:xfrm>
          <a:prstGeom prst="rect">
            <a:avLst/>
          </a:prstGeom>
          <a:solidFill>
            <a:srgbClr val="EEF3FA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65960" y="5175504"/>
            <a:ext cx="2743200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  <a:latin typeface="微软雅黑"/>
                <a:ea typeface="微软雅黑"/>
              </a:rPr>
              <a:t>第5步 · 分层与端云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0" y="5175504"/>
            <a:ext cx="6583680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50" b="0" i="0">
                <a:solidFill>
                  <a:srgbClr val="222222"/>
                </a:solidFill>
                <a:latin typeface="微软雅黑"/>
                <a:ea typeface="微软雅黑"/>
              </a:rPr>
              <a:t>加 0.6B 意图兜底；难题走端云协同，必要时升 S100P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微软雅黑"/>
                <a:ea typeface="微软雅黑"/>
              </a:rPr>
              <a:t>人形机器人端侧拟人模型选型 · 地瓜 RDK S100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808080"/>
                </a:solidFill>
                <a:latin typeface="微软雅黑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